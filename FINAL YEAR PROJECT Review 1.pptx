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notesMasterIdLst>
    <p:notesMasterId r:id="rId30"/>
  </p:notesMasterIdLst>
  <p:sldIdLst>
    <p:sldId id="256" r:id="rId2"/>
    <p:sldId id="272" r:id="rId3"/>
    <p:sldId id="273" r:id="rId4"/>
    <p:sldId id="274" r:id="rId5"/>
    <p:sldId id="275" r:id="rId6"/>
    <p:sldId id="271" r:id="rId7"/>
    <p:sldId id="258" r:id="rId8"/>
    <p:sldId id="259" r:id="rId9"/>
    <p:sldId id="260" r:id="rId10"/>
    <p:sldId id="261" r:id="rId11"/>
    <p:sldId id="262" r:id="rId12"/>
    <p:sldId id="263" r:id="rId13"/>
    <p:sldId id="270" r:id="rId14"/>
    <p:sldId id="264" r:id="rId15"/>
    <p:sldId id="26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6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3277" autoAdjust="0"/>
  </p:normalViewPr>
  <p:slideViewPr>
    <p:cSldViewPr snapToGrid="0">
      <p:cViewPr varScale="1">
        <p:scale>
          <a:sx n="79" d="100"/>
          <a:sy n="79" d="100"/>
        </p:scale>
        <p:origin x="80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FF1CA1-25BB-4B66-B0CB-8D3F4D339F59}"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1D2A9-E7D5-44AA-AA43-9CF698C2D1DC}" type="slidenum">
              <a:rPr lang="en-IN" smtClean="0"/>
              <a:t>‹#›</a:t>
            </a:fld>
            <a:endParaRPr lang="en-IN"/>
          </a:p>
        </p:txBody>
      </p:sp>
    </p:spTree>
    <p:extLst>
      <p:ext uri="{BB962C8B-B14F-4D97-AF65-F5344CB8AC3E}">
        <p14:creationId xmlns:p14="http://schemas.microsoft.com/office/powerpoint/2010/main" val="3914477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2</a:t>
            </a:fld>
            <a:endParaRPr lang="en-IN"/>
          </a:p>
        </p:txBody>
      </p:sp>
    </p:spTree>
    <p:extLst>
      <p:ext uri="{BB962C8B-B14F-4D97-AF65-F5344CB8AC3E}">
        <p14:creationId xmlns:p14="http://schemas.microsoft.com/office/powerpoint/2010/main" val="2964277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8</a:t>
            </a:fld>
            <a:endParaRPr lang="en-IN"/>
          </a:p>
        </p:txBody>
      </p:sp>
    </p:spTree>
    <p:extLst>
      <p:ext uri="{BB962C8B-B14F-4D97-AF65-F5344CB8AC3E}">
        <p14:creationId xmlns:p14="http://schemas.microsoft.com/office/powerpoint/2010/main" val="676788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9</a:t>
            </a:fld>
            <a:endParaRPr lang="en-IN"/>
          </a:p>
        </p:txBody>
      </p:sp>
    </p:spTree>
    <p:extLst>
      <p:ext uri="{BB962C8B-B14F-4D97-AF65-F5344CB8AC3E}">
        <p14:creationId xmlns:p14="http://schemas.microsoft.com/office/powerpoint/2010/main" val="531718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10</a:t>
            </a:fld>
            <a:endParaRPr lang="en-IN"/>
          </a:p>
        </p:txBody>
      </p:sp>
    </p:spTree>
    <p:extLst>
      <p:ext uri="{BB962C8B-B14F-4D97-AF65-F5344CB8AC3E}">
        <p14:creationId xmlns:p14="http://schemas.microsoft.com/office/powerpoint/2010/main" val="3251359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11</a:t>
            </a:fld>
            <a:endParaRPr lang="en-IN"/>
          </a:p>
        </p:txBody>
      </p:sp>
    </p:spTree>
    <p:extLst>
      <p:ext uri="{BB962C8B-B14F-4D97-AF65-F5344CB8AC3E}">
        <p14:creationId xmlns:p14="http://schemas.microsoft.com/office/powerpoint/2010/main" val="3807571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12</a:t>
            </a:fld>
            <a:endParaRPr lang="en-IN"/>
          </a:p>
        </p:txBody>
      </p:sp>
    </p:spTree>
    <p:extLst>
      <p:ext uri="{BB962C8B-B14F-4D97-AF65-F5344CB8AC3E}">
        <p14:creationId xmlns:p14="http://schemas.microsoft.com/office/powerpoint/2010/main" val="2588714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15</a:t>
            </a:fld>
            <a:endParaRPr lang="en-IN"/>
          </a:p>
        </p:txBody>
      </p:sp>
    </p:spTree>
    <p:extLst>
      <p:ext uri="{BB962C8B-B14F-4D97-AF65-F5344CB8AC3E}">
        <p14:creationId xmlns:p14="http://schemas.microsoft.com/office/powerpoint/2010/main" val="2878260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E1D2A9-E7D5-44AA-AA43-9CF698C2D1DC}" type="slidenum">
              <a:rPr lang="en-IN" smtClean="0"/>
              <a:t>16</a:t>
            </a:fld>
            <a:endParaRPr lang="en-IN"/>
          </a:p>
        </p:txBody>
      </p:sp>
    </p:spTree>
    <p:extLst>
      <p:ext uri="{BB962C8B-B14F-4D97-AF65-F5344CB8AC3E}">
        <p14:creationId xmlns:p14="http://schemas.microsoft.com/office/powerpoint/2010/main" val="2892600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B88C-E51B-B6ED-4C7E-2A6DFB34B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C8255E-7984-65F5-92CD-B3FFB28719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374158-EEFA-A9FA-7531-D47FAFB372B1}"/>
              </a:ext>
            </a:extLst>
          </p:cNvPr>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a:extLst>
              <a:ext uri="{FF2B5EF4-FFF2-40B4-BE49-F238E27FC236}">
                <a16:creationId xmlns:a16="http://schemas.microsoft.com/office/drawing/2014/main" id="{D114EA53-7064-F384-3C91-4796A4A848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EC0AEE-459B-C57D-B41D-B3E5D018034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9105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0E2E-7BC7-AD17-4567-AC45C4F503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5DD365-553E-4AFA-40A6-A170A117A1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26C796-7A6C-D252-4021-E4524E32BFD8}"/>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5" name="Footer Placeholder 4">
            <a:extLst>
              <a:ext uri="{FF2B5EF4-FFF2-40B4-BE49-F238E27FC236}">
                <a16:creationId xmlns:a16="http://schemas.microsoft.com/office/drawing/2014/main" id="{F5B3E566-5851-10BC-6B23-F7C3D3943D2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1695C1-8E0C-ED3A-9747-C11B9DB37CFD}"/>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8849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99678-C705-D17A-C5D7-2C232D03AC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99E4D5-7591-944B-2D52-7315D3C0C6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BB7BC7-6684-E9AD-9414-9BF6B6FEC0BE}"/>
              </a:ext>
            </a:extLst>
          </p:cNvPr>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a:extLst>
              <a:ext uri="{FF2B5EF4-FFF2-40B4-BE49-F238E27FC236}">
                <a16:creationId xmlns:a16="http://schemas.microsoft.com/office/drawing/2014/main" id="{BAA578CA-9262-14E8-029D-055EE02E7B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CE05478-3FCB-10EB-9295-9ED443BEB69F}"/>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3493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A1ED-E72D-5FED-52E6-F2E6DCF2CC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F102FF-B576-A3DD-66DB-77E60E9A17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77E9CF-6356-D8FF-EDC9-B16BF39535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67C114-E2A5-DD37-DC2A-730156B223AE}"/>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6" name="Footer Placeholder 5">
            <a:extLst>
              <a:ext uri="{FF2B5EF4-FFF2-40B4-BE49-F238E27FC236}">
                <a16:creationId xmlns:a16="http://schemas.microsoft.com/office/drawing/2014/main" id="{5FC9A964-D4BD-CFF4-F778-4D7BE61B0E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8DB0EC3-ED5E-CC5D-41AF-079B740CEFFC}"/>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27580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3EE90-EDB7-2EC7-4253-C8602B1BE3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0B6573-27E6-2FC7-8A20-E20E66D72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B5D338-7625-A6F4-671E-8383A2812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73B612-9E18-66E9-8D06-776BD75EEC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18086A-FD0A-A6D1-9B77-2A444A7E68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780058-EE63-2564-83EC-D802D3C7B4B3}"/>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8" name="Footer Placeholder 7">
            <a:extLst>
              <a:ext uri="{FF2B5EF4-FFF2-40B4-BE49-F238E27FC236}">
                <a16:creationId xmlns:a16="http://schemas.microsoft.com/office/drawing/2014/main" id="{5D48C79A-0158-EF76-2306-C555878EB3C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2D2970D-A372-7355-95FD-21291F4216B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4990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B6AEE-9F79-D627-10F0-1E56403A68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C06B0C6-EEA2-6F2A-93A7-801D57B9EC1F}"/>
              </a:ext>
            </a:extLst>
          </p:cNvPr>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4" name="Footer Placeholder 3">
            <a:extLst>
              <a:ext uri="{FF2B5EF4-FFF2-40B4-BE49-F238E27FC236}">
                <a16:creationId xmlns:a16="http://schemas.microsoft.com/office/drawing/2014/main" id="{DDB3F871-AE14-4BD8-3B1C-89E8424A9D6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58E1258-CEFC-4753-844E-0158DB0C3B95}"/>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2985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06AC43-6AE3-FBE8-35B7-9724421A639F}"/>
              </a:ext>
            </a:extLst>
          </p:cNvPr>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3" name="Footer Placeholder 2">
            <a:extLst>
              <a:ext uri="{FF2B5EF4-FFF2-40B4-BE49-F238E27FC236}">
                <a16:creationId xmlns:a16="http://schemas.microsoft.com/office/drawing/2014/main" id="{34B1817E-369E-99DF-4A25-A20917D7F42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3BCD0D7-943F-06CF-16F2-E501F8CB98A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039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1F1B-DA19-5EAB-6D7A-A1D925F09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D4822C-0105-CC66-3481-E69D5C7923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50807A-56B6-1B37-E4B8-DDAA8CF63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89C501-FDE1-3B5C-1E81-7EE815F31CC0}"/>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6" name="Footer Placeholder 5">
            <a:extLst>
              <a:ext uri="{FF2B5EF4-FFF2-40B4-BE49-F238E27FC236}">
                <a16:creationId xmlns:a16="http://schemas.microsoft.com/office/drawing/2014/main" id="{EEF50B13-2DC0-D9F4-20CC-C8E460CEF2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158ECB8-EE5E-8BD3-A528-7ACAE715756E}"/>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2805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B968-2E44-0D1A-5134-231475DC40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A123D0-E663-C138-1A7A-FBAAED4EAE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49E20F-63EE-DD07-75E5-279A992D5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9E6E1A-5F51-B93A-CF97-EA3E6463BAFC}"/>
              </a:ext>
            </a:extLst>
          </p:cNvPr>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6" name="Footer Placeholder 5">
            <a:extLst>
              <a:ext uri="{FF2B5EF4-FFF2-40B4-BE49-F238E27FC236}">
                <a16:creationId xmlns:a16="http://schemas.microsoft.com/office/drawing/2014/main" id="{E3288FC2-4F13-61AE-FCCD-5A8CD704661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67D747B-BEFD-D716-C71B-32FF779F5C17}"/>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9295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6FB3-C50E-7439-8601-3F5C832F04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7475DE-8CA0-BE60-FA2B-94B44B6D94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54F566-E68E-A45B-A0D9-6D77E5671B23}"/>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5" name="Footer Placeholder 4">
            <a:extLst>
              <a:ext uri="{FF2B5EF4-FFF2-40B4-BE49-F238E27FC236}">
                <a16:creationId xmlns:a16="http://schemas.microsoft.com/office/drawing/2014/main" id="{2762F718-7A12-2249-CE90-B20D5638558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F44C44-0A27-B9E6-51FC-D0E10CB62266}"/>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8043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7AAB5A-FC8C-F444-1000-2492B9AA4B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BCCA4B-272B-1A1E-E4FE-71C0BD53BB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383930-3AB8-497C-41F3-D28D0B7EDCE5}"/>
              </a:ext>
            </a:extLst>
          </p:cNvPr>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5" name="Footer Placeholder 4">
            <a:extLst>
              <a:ext uri="{FF2B5EF4-FFF2-40B4-BE49-F238E27FC236}">
                <a16:creationId xmlns:a16="http://schemas.microsoft.com/office/drawing/2014/main" id="{1A9311DD-203D-40EC-462D-9FE4FF919A5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E83F33-68F6-3DB6-2674-E16E2752F8C6}"/>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81553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729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8449FC-D97C-CF5C-30C4-3828B4882B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23049F-2900-C978-731F-3098DF82A3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F35BC-92C3-C497-D267-C69EFD729F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2/12/2026</a:t>
            </a:fld>
            <a:endParaRPr lang="en-US" dirty="0"/>
          </a:p>
        </p:txBody>
      </p:sp>
      <p:sp>
        <p:nvSpPr>
          <p:cNvPr id="5" name="Footer Placeholder 4">
            <a:extLst>
              <a:ext uri="{FF2B5EF4-FFF2-40B4-BE49-F238E27FC236}">
                <a16:creationId xmlns:a16="http://schemas.microsoft.com/office/drawing/2014/main" id="{BC7EE3CC-E142-ED22-906C-C77E182A9C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BD3677A-065E-D508-9CE2-84AFFE30AD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2704712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4660-FAE7-DA4A-88BC-4E42AAE0AFDF}"/>
              </a:ext>
            </a:extLst>
          </p:cNvPr>
          <p:cNvSpPr>
            <a:spLocks noGrp="1"/>
          </p:cNvSpPr>
          <p:nvPr>
            <p:ph type="ctrTitle"/>
          </p:nvPr>
        </p:nvSpPr>
        <p:spPr>
          <a:xfrm>
            <a:off x="1737440" y="266893"/>
            <a:ext cx="9056418" cy="2289080"/>
          </a:xfrm>
        </p:spPr>
        <p:txBody>
          <a:bodyPr>
            <a:noAutofit/>
          </a:bodyPr>
          <a:lstStyle/>
          <a:p>
            <a:r>
              <a:rPr lang="en-GB" sz="4400" b="1" dirty="0">
                <a:latin typeface="Times New Roman" panose="02020603050405020304" pitchFamily="18" charset="0"/>
                <a:cs typeface="Times New Roman" panose="02020603050405020304" pitchFamily="18" charset="0"/>
              </a:rPr>
              <a:t>MULTIMODAL DEEP LEARNING</a:t>
            </a:r>
            <a:br>
              <a:rPr lang="en-GB" sz="4400" b="1" dirty="0">
                <a:latin typeface="Times New Roman" panose="02020603050405020304" pitchFamily="18" charset="0"/>
                <a:cs typeface="Times New Roman" panose="02020603050405020304" pitchFamily="18" charset="0"/>
              </a:rPr>
            </a:br>
            <a:r>
              <a:rPr lang="en-GB" sz="4400" b="1" dirty="0">
                <a:latin typeface="Times New Roman" panose="02020603050405020304" pitchFamily="18" charset="0"/>
                <a:cs typeface="Times New Roman" panose="02020603050405020304" pitchFamily="18" charset="0"/>
              </a:rPr>
              <a:t>FRAMEWORK FOR EARLY</a:t>
            </a:r>
            <a:br>
              <a:rPr lang="en-GB" sz="4400" b="1" dirty="0">
                <a:latin typeface="Times New Roman" panose="02020603050405020304" pitchFamily="18" charset="0"/>
                <a:cs typeface="Times New Roman" panose="02020603050405020304" pitchFamily="18" charset="0"/>
              </a:rPr>
            </a:br>
            <a:r>
              <a:rPr lang="en-GB" sz="4400" b="1" dirty="0">
                <a:latin typeface="Times New Roman" panose="02020603050405020304" pitchFamily="18" charset="0"/>
                <a:cs typeface="Times New Roman" panose="02020603050405020304" pitchFamily="18" charset="0"/>
              </a:rPr>
              <a:t>PARKINSON’S PREDICTION</a:t>
            </a:r>
            <a:endParaRPr lang="en-IN" sz="4400" b="1" dirty="0"/>
          </a:p>
        </p:txBody>
      </p:sp>
      <p:sp>
        <p:nvSpPr>
          <p:cNvPr id="3" name="Subtitle 2">
            <a:extLst>
              <a:ext uri="{FF2B5EF4-FFF2-40B4-BE49-F238E27FC236}">
                <a16:creationId xmlns:a16="http://schemas.microsoft.com/office/drawing/2014/main" id="{F24B0BAB-C4BF-507A-1CE8-5D11C27DB61A}"/>
              </a:ext>
            </a:extLst>
          </p:cNvPr>
          <p:cNvSpPr>
            <a:spLocks noGrp="1"/>
          </p:cNvSpPr>
          <p:nvPr>
            <p:ph type="subTitle" idx="1"/>
          </p:nvPr>
        </p:nvSpPr>
        <p:spPr>
          <a:xfrm>
            <a:off x="780288" y="3141133"/>
            <a:ext cx="11106911" cy="3048000"/>
          </a:xfrm>
        </p:spPr>
        <p:txBody>
          <a:bodyPr>
            <a:normAutofit/>
          </a:bodyPr>
          <a:lstStyle/>
          <a:p>
            <a:pPr algn="l"/>
            <a:r>
              <a:rPr lang="en-GB" sz="2400" dirty="0">
                <a:solidFill>
                  <a:schemeClr val="tx1"/>
                </a:solidFill>
                <a:latin typeface="Times New Roman" panose="02020603050405020304" pitchFamily="18" charset="0"/>
                <a:cs typeface="Times New Roman" panose="02020603050405020304" pitchFamily="18" charset="0"/>
              </a:rPr>
              <a:t>GUIDED BY</a:t>
            </a:r>
            <a:r>
              <a:rPr lang="en-GB" sz="2400" dirty="0">
                <a:solidFill>
                  <a:schemeClr val="tx1">
                    <a:lumMod val="95000"/>
                    <a:lumOff val="5000"/>
                  </a:schemeClr>
                </a:solidFill>
                <a:latin typeface="Times New Roman" panose="02020603050405020304" pitchFamily="18" charset="0"/>
                <a:cs typeface="Times New Roman" panose="02020603050405020304" pitchFamily="18" charset="0"/>
              </a:rPr>
              <a:t>,                                                                  PRESENTED BY,</a:t>
            </a:r>
          </a:p>
          <a:p>
            <a:pPr algn="l"/>
            <a:r>
              <a:rPr lang="en-IN" dirty="0">
                <a:latin typeface="Times New Roman" panose="02020603050405020304" pitchFamily="18" charset="0"/>
                <a:cs typeface="Times New Roman" panose="02020603050405020304" pitchFamily="18" charset="0"/>
              </a:rPr>
              <a:t>   </a:t>
            </a:r>
            <a:r>
              <a:rPr lang="en-GB" sz="2000" cap="none" dirty="0">
                <a:solidFill>
                  <a:schemeClr val="accent6">
                    <a:lumMod val="50000"/>
                  </a:schemeClr>
                </a:solidFill>
                <a:latin typeface="Times New Roman" panose="02020603050405020304" pitchFamily="18" charset="0"/>
                <a:cs typeface="Times New Roman" panose="02020603050405020304" pitchFamily="18" charset="0"/>
              </a:rPr>
              <a:t>Dr. A. Bamila Virgin Louis, ME, Ph.D.                                           Anshilin </a:t>
            </a:r>
            <a:r>
              <a:rPr lang="en-GB" sz="2000" cap="none" dirty="0" err="1">
                <a:solidFill>
                  <a:schemeClr val="accent6">
                    <a:lumMod val="50000"/>
                  </a:schemeClr>
                </a:solidFill>
                <a:latin typeface="Times New Roman" panose="02020603050405020304" pitchFamily="18" charset="0"/>
                <a:cs typeface="Times New Roman" panose="02020603050405020304" pitchFamily="18" charset="0"/>
              </a:rPr>
              <a:t>Rigosha</a:t>
            </a:r>
            <a:r>
              <a:rPr lang="en-GB" sz="2000" cap="none" dirty="0">
                <a:solidFill>
                  <a:schemeClr val="accent6">
                    <a:lumMod val="50000"/>
                  </a:schemeClr>
                </a:solidFill>
                <a:latin typeface="Times New Roman" panose="02020603050405020304" pitchFamily="18" charset="0"/>
                <a:cs typeface="Times New Roman" panose="02020603050405020304" pitchFamily="18" charset="0"/>
              </a:rPr>
              <a:t> A-962222104019</a:t>
            </a:r>
          </a:p>
          <a:p>
            <a:pPr algn="l"/>
            <a:r>
              <a:rPr lang="en-GB" sz="2000" cap="none" dirty="0">
                <a:solidFill>
                  <a:schemeClr val="accent6">
                    <a:lumMod val="50000"/>
                  </a:schemeClr>
                </a:solidFill>
                <a:latin typeface="Times New Roman" panose="02020603050405020304" pitchFamily="18" charset="0"/>
                <a:cs typeface="Times New Roman" panose="02020603050405020304" pitchFamily="18" charset="0"/>
              </a:rPr>
              <a:t>                                                                                                             Ashin Rinisha A-962222104035</a:t>
            </a:r>
            <a:endParaRPr lang="en-GB" sz="2000" dirty="0">
              <a:latin typeface="Times New Roman" panose="02020603050405020304" pitchFamily="18" charset="0"/>
              <a:cs typeface="Times New Roman" panose="02020603050405020304" pitchFamily="18" charset="0"/>
            </a:endParaRPr>
          </a:p>
          <a:p>
            <a:pPr algn="l"/>
            <a:r>
              <a:rPr lang="en-GB" sz="2000" dirty="0">
                <a:latin typeface="Times New Roman" panose="02020603050405020304" pitchFamily="18" charset="0"/>
                <a:cs typeface="Times New Roman" panose="02020603050405020304" pitchFamily="18" charset="0"/>
              </a:rPr>
              <a:t>                                                                                                             </a:t>
            </a:r>
            <a:r>
              <a:rPr lang="en-GB" sz="2000" cap="none" dirty="0">
                <a:solidFill>
                  <a:schemeClr val="accent6">
                    <a:lumMod val="50000"/>
                  </a:schemeClr>
                </a:solidFill>
                <a:latin typeface="Times New Roman" panose="02020603050405020304" pitchFamily="18" charset="0"/>
                <a:cs typeface="Times New Roman" panose="02020603050405020304" pitchFamily="18" charset="0"/>
              </a:rPr>
              <a:t>Ebilin D-962222104053</a:t>
            </a:r>
          </a:p>
          <a:p>
            <a:pPr algn="l"/>
            <a:r>
              <a:rPr lang="en-GB" sz="2000" cap="none" dirty="0">
                <a:solidFill>
                  <a:schemeClr val="accent6">
                    <a:lumMod val="50000"/>
                  </a:schemeClr>
                </a:solidFill>
                <a:latin typeface="Times New Roman" panose="02020603050405020304" pitchFamily="18" charset="0"/>
                <a:cs typeface="Times New Roman" panose="02020603050405020304" pitchFamily="18" charset="0"/>
              </a:rPr>
              <a:t>                                                                                                             Jefflin J-962222104063</a:t>
            </a:r>
          </a:p>
          <a:p>
            <a:pPr algn="l"/>
            <a:endParaRPr lang="en-GB" sz="2000" cap="none" dirty="0">
              <a:solidFill>
                <a:schemeClr val="accent6">
                  <a:lumMod val="50000"/>
                </a:schemeClr>
              </a:solidFill>
              <a:latin typeface="Times New Roman" panose="02020603050405020304" pitchFamily="18" charset="0"/>
              <a:cs typeface="Times New Roman" panose="02020603050405020304" pitchFamily="18" charset="0"/>
            </a:endParaRPr>
          </a:p>
          <a:p>
            <a:pPr algn="l"/>
            <a:r>
              <a:rPr lang="en-GB" sz="2000" cap="none" dirty="0">
                <a:solidFill>
                  <a:schemeClr val="accent6">
                    <a:lumMod val="50000"/>
                  </a:schemeClr>
                </a:solidFill>
                <a:latin typeface="Times New Roman" panose="02020603050405020304" pitchFamily="18" charset="0"/>
                <a:cs typeface="Times New Roman" panose="02020603050405020304" pitchFamily="18" charset="0"/>
              </a:rPr>
              <a:t>                                                                                                             </a:t>
            </a:r>
            <a:endParaRPr lang="en-IN" sz="2000"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82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CCF7-486C-282D-BDD7-D3BBA75B53CF}"/>
              </a:ext>
            </a:extLst>
          </p:cNvPr>
          <p:cNvSpPr>
            <a:spLocks noGrp="1"/>
          </p:cNvSpPr>
          <p:nvPr>
            <p:ph type="title"/>
          </p:nvPr>
        </p:nvSpPr>
        <p:spPr>
          <a:xfrm>
            <a:off x="802564" y="-29129"/>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698F55B-97BD-94CC-B6AD-628614A56A02}"/>
              </a:ext>
            </a:extLst>
          </p:cNvPr>
          <p:cNvSpPr>
            <a:spLocks noGrp="1"/>
          </p:cNvSpPr>
          <p:nvPr>
            <p:ph sz="quarter" idx="13"/>
          </p:nvPr>
        </p:nvSpPr>
        <p:spPr>
          <a:xfrm>
            <a:off x="619680" y="1486959"/>
            <a:ext cx="11257004" cy="4816564"/>
          </a:xfrm>
        </p:spPr>
        <p:txBody>
          <a:bodyPr>
            <a:normAutofit/>
          </a:bodyPr>
          <a:lstStyle/>
          <a:p>
            <a:pPr algn="just">
              <a:lnSpc>
                <a:spcPct val="100000"/>
              </a:lnSpc>
            </a:pPr>
            <a:r>
              <a:rPr lang="en-US" sz="2200" cap="none" dirty="0">
                <a:latin typeface="Times New Roman" panose="02020603050405020304" pitchFamily="18" charset="0"/>
                <a:cs typeface="Times New Roman" panose="02020603050405020304" pitchFamily="18" charset="0"/>
              </a:rPr>
              <a:t>Parkinson’s disease is a progressive neurological disorder that affects movement, speech, and handwriting. It is often diagnosed late, reducing treatment effectiveness.</a:t>
            </a:r>
          </a:p>
          <a:p>
            <a:pPr algn="just">
              <a:lnSpc>
                <a:spcPct val="100000"/>
              </a:lnSpc>
            </a:pPr>
            <a:r>
              <a:rPr lang="en-US" sz="2200" cap="none" dirty="0">
                <a:latin typeface="Times New Roman" panose="02020603050405020304" pitchFamily="18" charset="0"/>
                <a:cs typeface="Times New Roman" panose="02020603050405020304" pitchFamily="18" charset="0"/>
              </a:rPr>
              <a:t> Single-modality prediction systems are unreliable because symptoms vary across </a:t>
            </a:r>
            <a:r>
              <a:rPr lang="en-US" sz="2200" cap="none" dirty="0" err="1">
                <a:latin typeface="Times New Roman" panose="02020603050405020304" pitchFamily="18" charset="0"/>
                <a:cs typeface="Times New Roman" panose="02020603050405020304" pitchFamily="18" charset="0"/>
              </a:rPr>
              <a:t>patients.This</a:t>
            </a:r>
            <a:r>
              <a:rPr lang="en-US" sz="2200" cap="none" dirty="0">
                <a:latin typeface="Times New Roman" panose="02020603050405020304" pitchFamily="18" charset="0"/>
                <a:cs typeface="Times New Roman" panose="02020603050405020304" pitchFamily="18" charset="0"/>
              </a:rPr>
              <a:t> project proposes a multimodal deep learning web application that integrates speech, handwriting, and gait for early prediction. </a:t>
            </a:r>
          </a:p>
          <a:p>
            <a:pPr algn="just">
              <a:lnSpc>
                <a:spcPct val="100000"/>
              </a:lnSpc>
            </a:pPr>
            <a:r>
              <a:rPr lang="en-US" sz="2200" cap="none" dirty="0">
                <a:latin typeface="Times New Roman" panose="02020603050405020304" pitchFamily="18" charset="0"/>
                <a:cs typeface="Times New Roman" panose="02020603050405020304" pitchFamily="18" charset="0"/>
              </a:rPr>
              <a:t>CNN models extract features from each modality, and an attention-based fusion layer highlights the most informative signals. A dense classifier produces predictions with confidence scores, while SMOTE ensures balanced training.</a:t>
            </a:r>
          </a:p>
          <a:p>
            <a:pPr algn="just">
              <a:lnSpc>
                <a:spcPct val="100000"/>
              </a:lnSpc>
            </a:pPr>
            <a:r>
              <a:rPr lang="en-US" sz="2200" cap="none" dirty="0">
                <a:latin typeface="Times New Roman" panose="02020603050405020304" pitchFamily="18" charset="0"/>
                <a:cs typeface="Times New Roman" panose="02020603050405020304" pitchFamily="18" charset="0"/>
              </a:rPr>
              <a:t>The system is deployed using React + Flask with real-time REST APIs. Explainable AI tools such as Grad-CAM and attention visualization improve clinical transparency, making the platform suitable for accessible, non-invasive screening in real healthcare settings.</a:t>
            </a:r>
            <a:endParaRPr lang="en-IN" sz="22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834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1B4B-CBAB-CB19-5986-C6C79F168234}"/>
              </a:ext>
            </a:extLst>
          </p:cNvPr>
          <p:cNvSpPr>
            <a:spLocks noGrp="1"/>
          </p:cNvSpPr>
          <p:nvPr>
            <p:ph type="title"/>
          </p:nvPr>
        </p:nvSpPr>
        <p:spPr>
          <a:xfrm>
            <a:off x="1085781" y="154892"/>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2B7439B-8230-B4FB-C2BE-9AFD6A8E1CA7}"/>
              </a:ext>
            </a:extLst>
          </p:cNvPr>
          <p:cNvSpPr>
            <a:spLocks noGrp="1"/>
          </p:cNvSpPr>
          <p:nvPr>
            <p:ph sz="quarter" idx="13"/>
          </p:nvPr>
        </p:nvSpPr>
        <p:spPr>
          <a:xfrm>
            <a:off x="1457678" y="1751069"/>
            <a:ext cx="9620656" cy="4649731"/>
          </a:xfrm>
        </p:spPr>
        <p:txBody>
          <a:bodyPr>
            <a:normAutofit/>
          </a:bodyPr>
          <a:lstStyle/>
          <a:p>
            <a:pPr algn="just">
              <a:lnSpc>
                <a:spcPct val="100000"/>
              </a:lnSpc>
            </a:pPr>
            <a:r>
              <a:rPr lang="en-US" sz="2800" dirty="0">
                <a:latin typeface="Times New Roman" panose="02020603050405020304" pitchFamily="18" charset="0"/>
                <a:cs typeface="Times New Roman" panose="02020603050405020304" pitchFamily="18" charset="0"/>
              </a:rPr>
              <a:t> </a:t>
            </a:r>
            <a:r>
              <a:rPr lang="en-US" sz="2600" cap="none" dirty="0">
                <a:latin typeface="Times New Roman" panose="02020603050405020304" pitchFamily="18" charset="0"/>
                <a:cs typeface="Times New Roman" panose="02020603050405020304" pitchFamily="18" charset="0"/>
              </a:rPr>
              <a:t>Parkinson's disease is a progressive neurological disorder that affects movement, speech, and handwriting due to degeneration of dopamine-producing neurons.</a:t>
            </a:r>
          </a:p>
          <a:p>
            <a:pPr algn="just">
              <a:lnSpc>
                <a:spcPct val="100000"/>
              </a:lnSpc>
            </a:pPr>
            <a:r>
              <a:rPr lang="en-US" sz="2600" cap="none" dirty="0">
                <a:latin typeface="Times New Roman" panose="02020603050405020304" pitchFamily="18" charset="0"/>
                <a:cs typeface="Times New Roman" panose="02020603050405020304" pitchFamily="18" charset="0"/>
              </a:rPr>
              <a:t>It is one of the most prevalent neurodegenerative diseases worldwide and significantly impacts patient independence and quality of life.</a:t>
            </a:r>
          </a:p>
          <a:p>
            <a:pPr algn="just">
              <a:lnSpc>
                <a:spcPct val="100000"/>
              </a:lnSpc>
            </a:pPr>
            <a:r>
              <a:rPr lang="en-US" sz="2600" cap="none" dirty="0">
                <a:latin typeface="Times New Roman" panose="02020603050405020304" pitchFamily="18" charset="0"/>
                <a:cs typeface="Times New Roman" panose="02020603050405020304" pitchFamily="18" charset="0"/>
              </a:rPr>
              <a:t>Advances in technology have created opportunities to support clinical</a:t>
            </a:r>
            <a:r>
              <a:rPr lang="en-US" sz="2600" dirty="0">
                <a:latin typeface="Times New Roman" panose="02020603050405020304" pitchFamily="18" charset="0"/>
                <a:cs typeface="Times New Roman" panose="02020603050405020304" pitchFamily="18" charset="0"/>
              </a:rPr>
              <a:t> d</a:t>
            </a:r>
            <a:r>
              <a:rPr lang="en-US" sz="2600" cap="none" dirty="0">
                <a:latin typeface="Times New Roman" panose="02020603050405020304" pitchFamily="18" charset="0"/>
                <a:cs typeface="Times New Roman" panose="02020603050405020304" pitchFamily="18" charset="0"/>
              </a:rPr>
              <a:t>ecision-making through data-driven and non-invasive approaches.</a:t>
            </a:r>
            <a:endParaRPr lang="en-IN" sz="2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891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D93DA-BAA7-8CCB-6EC2-CF4F9ADB594A}"/>
              </a:ext>
            </a:extLst>
          </p:cNvPr>
          <p:cNvSpPr>
            <a:spLocks noGrp="1"/>
          </p:cNvSpPr>
          <p:nvPr>
            <p:ph type="title"/>
          </p:nvPr>
        </p:nvSpPr>
        <p:spPr>
          <a:xfrm>
            <a:off x="913148" y="0"/>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AFCC672-CB05-1801-C5FE-A901DAA6CE2C}"/>
              </a:ext>
            </a:extLst>
          </p:cNvPr>
          <p:cNvSpPr>
            <a:spLocks noGrp="1"/>
          </p:cNvSpPr>
          <p:nvPr>
            <p:ph sz="quarter" idx="13"/>
          </p:nvPr>
        </p:nvSpPr>
        <p:spPr>
          <a:xfrm>
            <a:off x="913148" y="1596177"/>
            <a:ext cx="10876515" cy="5143864"/>
          </a:xfrm>
        </p:spPr>
        <p:txBody>
          <a:bodyPr>
            <a:normAutofit/>
          </a:bodyPr>
          <a:lstStyle/>
          <a:p>
            <a:pPr marL="0" indent="0" algn="just">
              <a:lnSpc>
                <a:spcPct val="100000"/>
              </a:lnSpc>
              <a:buNone/>
            </a:pPr>
            <a:r>
              <a:rPr lang="en-US" sz="2400" b="1" cap="none" dirty="0">
                <a:latin typeface="Times New Roman" panose="02020603050405020304" pitchFamily="18" charset="0"/>
                <a:cs typeface="Times New Roman" panose="02020603050405020304" pitchFamily="18" charset="0"/>
              </a:rPr>
              <a:t>Problem:</a:t>
            </a:r>
          </a:p>
          <a:p>
            <a:pPr algn="just">
              <a:lnSpc>
                <a:spcPct val="100000"/>
              </a:lnSpc>
            </a:pPr>
            <a:r>
              <a:rPr lang="en-US" sz="2400" cap="none" dirty="0">
                <a:latin typeface="Times New Roman" panose="02020603050405020304" pitchFamily="18" charset="0"/>
                <a:cs typeface="Times New Roman" panose="02020603050405020304" pitchFamily="18" charset="0"/>
              </a:rPr>
              <a:t>Existing </a:t>
            </a:r>
            <a:r>
              <a:rPr lang="en-US" sz="2400" cap="none" dirty="0" err="1">
                <a:latin typeface="Times New Roman" panose="02020603050405020304" pitchFamily="18" charset="0"/>
                <a:cs typeface="Times New Roman" panose="02020603050405020304" pitchFamily="18" charset="0"/>
              </a:rPr>
              <a:t>parkinson’s</a:t>
            </a:r>
            <a:r>
              <a:rPr lang="en-US" sz="2400" cap="none" dirty="0">
                <a:latin typeface="Times New Roman" panose="02020603050405020304" pitchFamily="18" charset="0"/>
                <a:cs typeface="Times New Roman" panose="02020603050405020304" pitchFamily="18" charset="0"/>
              </a:rPr>
              <a:t> prediction methods rely on single or limited modalities and simple explainable models, resulting in incomplete feature learning and unreliable early-stage prediction.</a:t>
            </a:r>
          </a:p>
          <a:p>
            <a:pPr marL="0" indent="0" algn="just">
              <a:lnSpc>
                <a:spcPct val="100000"/>
              </a:lnSpc>
              <a:buNone/>
            </a:pPr>
            <a:endParaRPr lang="en-US" sz="2400" b="1" cap="none" dirty="0">
              <a:latin typeface="Times New Roman" panose="02020603050405020304" pitchFamily="18" charset="0"/>
              <a:cs typeface="Times New Roman" panose="02020603050405020304" pitchFamily="18" charset="0"/>
            </a:endParaRPr>
          </a:p>
          <a:p>
            <a:pPr marL="0" indent="0" algn="just">
              <a:lnSpc>
                <a:spcPct val="100000"/>
              </a:lnSpc>
              <a:buNone/>
            </a:pPr>
            <a:r>
              <a:rPr lang="en-US" sz="2400" b="1" cap="none" dirty="0">
                <a:latin typeface="Times New Roman" panose="02020603050405020304" pitchFamily="18" charset="0"/>
                <a:cs typeface="Times New Roman" panose="02020603050405020304" pitchFamily="18" charset="0"/>
              </a:rPr>
              <a:t>Limitations:</a:t>
            </a:r>
          </a:p>
          <a:p>
            <a:pPr algn="just">
              <a:lnSpc>
                <a:spcPct val="100000"/>
              </a:lnSpc>
            </a:pPr>
            <a:r>
              <a:rPr lang="en-US" sz="2400" cap="none" dirty="0">
                <a:latin typeface="Times New Roman" panose="02020603050405020304" pitchFamily="18" charset="0"/>
                <a:cs typeface="Times New Roman" panose="02020603050405020304" pitchFamily="18" charset="0"/>
              </a:rPr>
              <a:t>Use only a single modality (speech, handwriting, or gait).</a:t>
            </a:r>
          </a:p>
          <a:p>
            <a:pPr algn="just">
              <a:lnSpc>
                <a:spcPct val="100000"/>
              </a:lnSpc>
            </a:pPr>
            <a:r>
              <a:rPr lang="en-US" sz="2400" cap="none" dirty="0">
                <a:latin typeface="Times New Roman" panose="02020603050405020304" pitchFamily="18" charset="0"/>
                <a:cs typeface="Times New Roman" panose="02020603050405020304" pitchFamily="18" charset="0"/>
              </a:rPr>
              <a:t>Trained on small or limited datasets. Poor generalization to new or diverse patients.</a:t>
            </a:r>
          </a:p>
          <a:p>
            <a:pPr algn="just">
              <a:lnSpc>
                <a:spcPct val="100000"/>
              </a:lnSpc>
            </a:pPr>
            <a:r>
              <a:rPr lang="en-US" sz="2400" cap="none" dirty="0">
                <a:latin typeface="Times New Roman" panose="02020603050405020304" pitchFamily="18" charset="0"/>
                <a:cs typeface="Times New Roman" panose="02020603050405020304" pitchFamily="18" charset="0"/>
              </a:rPr>
              <a:t>Operate as black-box models with limited explainability and real-time deployment capability.</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62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6ADF-383D-E7EE-E2C2-53878C192113}"/>
              </a:ext>
            </a:extLst>
          </p:cNvPr>
          <p:cNvSpPr>
            <a:spLocks noGrp="1"/>
          </p:cNvSpPr>
          <p:nvPr>
            <p:ph type="title"/>
          </p:nvPr>
        </p:nvSpPr>
        <p:spPr>
          <a:xfrm>
            <a:off x="913774" y="0"/>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FF4B037C-3DD5-CB57-A25A-FF657E35D880}"/>
              </a:ext>
            </a:extLst>
          </p:cNvPr>
          <p:cNvSpPr>
            <a:spLocks noGrp="1"/>
          </p:cNvSpPr>
          <p:nvPr>
            <p:ph sz="quarter" idx="13"/>
          </p:nvPr>
        </p:nvSpPr>
        <p:spPr>
          <a:xfrm>
            <a:off x="707005" y="1507788"/>
            <a:ext cx="11228832" cy="5229436"/>
          </a:xfrm>
        </p:spPr>
        <p:txBody>
          <a:bodyPr>
            <a:noAutofit/>
          </a:bodyPr>
          <a:lstStyle/>
          <a:p>
            <a:pPr marL="0" indent="0" algn="just">
              <a:lnSpc>
                <a:spcPct val="100000"/>
              </a:lnSpc>
              <a:buNone/>
            </a:pPr>
            <a:r>
              <a:rPr lang="en-US" sz="2400" cap="none" dirty="0">
                <a:latin typeface="Times New Roman" panose="02020603050405020304" pitchFamily="18" charset="0"/>
                <a:cs typeface="Times New Roman" panose="02020603050405020304" pitchFamily="18" charset="0"/>
              </a:rPr>
              <a:t>To develop a multimodal deep learning system for early prediction of </a:t>
            </a:r>
            <a:r>
              <a:rPr lang="en-US" sz="2400" cap="none" dirty="0" err="1">
                <a:latin typeface="Times New Roman" panose="02020603050405020304" pitchFamily="18" charset="0"/>
                <a:cs typeface="Times New Roman" panose="02020603050405020304" pitchFamily="18" charset="0"/>
              </a:rPr>
              <a:t>parkinson’s</a:t>
            </a:r>
            <a:r>
              <a:rPr lang="en-US" sz="2400" cap="none" dirty="0">
                <a:latin typeface="Times New Roman" panose="02020603050405020304" pitchFamily="18" charset="0"/>
                <a:cs typeface="Times New Roman" panose="02020603050405020304" pitchFamily="18" charset="0"/>
              </a:rPr>
              <a:t> disease using speech, handwriting, and gait data. The system aims to provide accurate, interpretable results through a scalable web-based platform for real-time clinical screening.</a:t>
            </a:r>
          </a:p>
          <a:p>
            <a:pPr marL="0" indent="0" algn="just">
              <a:lnSpc>
                <a:spcPct val="100000"/>
              </a:lnSpc>
              <a:buNone/>
            </a:pPr>
            <a:r>
              <a:rPr lang="en-US" sz="2400" b="1" cap="none" dirty="0">
                <a:latin typeface="Times New Roman" panose="02020603050405020304" pitchFamily="18" charset="0"/>
                <a:cs typeface="Times New Roman" panose="02020603050405020304" pitchFamily="18" charset="0"/>
              </a:rPr>
              <a:t>Key Expected Results:</a:t>
            </a:r>
          </a:p>
          <a:p>
            <a:pPr algn="just">
              <a:lnSpc>
                <a:spcPct val="100000"/>
              </a:lnSpc>
            </a:pPr>
            <a:r>
              <a:rPr lang="en-US" sz="2400" cap="none" dirty="0">
                <a:latin typeface="Times New Roman" panose="02020603050405020304" pitchFamily="18" charset="0"/>
                <a:cs typeface="Times New Roman" panose="02020603050405020304" pitchFamily="18" charset="0"/>
              </a:rPr>
              <a:t>Improved prediction accuracy compared to single-modality models.</a:t>
            </a:r>
          </a:p>
          <a:p>
            <a:pPr algn="just">
              <a:lnSpc>
                <a:spcPct val="100000"/>
              </a:lnSpc>
            </a:pPr>
            <a:r>
              <a:rPr lang="en-US" sz="2400" cap="none" dirty="0">
                <a:latin typeface="Times New Roman" panose="02020603050405020304" pitchFamily="18" charset="0"/>
                <a:cs typeface="Times New Roman" panose="02020603050405020304" pitchFamily="18" charset="0"/>
              </a:rPr>
              <a:t>Early prediction of </a:t>
            </a:r>
            <a:r>
              <a:rPr lang="en-US" sz="2400" cap="none" dirty="0" err="1">
                <a:latin typeface="Times New Roman" panose="02020603050405020304" pitchFamily="18" charset="0"/>
                <a:cs typeface="Times New Roman" panose="02020603050405020304" pitchFamily="18" charset="0"/>
              </a:rPr>
              <a:t>parkinson’s</a:t>
            </a:r>
            <a:r>
              <a:rPr lang="en-US" sz="2400" cap="none" dirty="0">
                <a:latin typeface="Times New Roman" panose="02020603050405020304" pitchFamily="18" charset="0"/>
                <a:cs typeface="Times New Roman" panose="02020603050405020304" pitchFamily="18" charset="0"/>
              </a:rPr>
              <a:t> disease using non-invasive data.</a:t>
            </a:r>
          </a:p>
          <a:p>
            <a:pPr algn="just">
              <a:lnSpc>
                <a:spcPct val="100000"/>
              </a:lnSpc>
            </a:pPr>
            <a:r>
              <a:rPr lang="en-US" sz="2400" cap="none" dirty="0">
                <a:latin typeface="Times New Roman" panose="02020603050405020304" pitchFamily="18" charset="0"/>
                <a:cs typeface="Times New Roman" panose="02020603050405020304" pitchFamily="18" charset="0"/>
              </a:rPr>
              <a:t>Clear and interpretable outputs with confidence scores.</a:t>
            </a:r>
          </a:p>
          <a:p>
            <a:pPr algn="just">
              <a:lnSpc>
                <a:spcPct val="100000"/>
              </a:lnSpc>
            </a:pPr>
            <a:r>
              <a:rPr lang="en-US" sz="2400" cap="none" dirty="0">
                <a:latin typeface="Times New Roman" panose="02020603050405020304" pitchFamily="18" charset="0"/>
                <a:cs typeface="Times New Roman" panose="02020603050405020304" pitchFamily="18" charset="0"/>
              </a:rPr>
              <a:t>Real-time web-based screening capability.</a:t>
            </a:r>
          </a:p>
          <a:p>
            <a:pPr algn="just">
              <a:lnSpc>
                <a:spcPct val="100000"/>
              </a:lnSpc>
            </a:pPr>
            <a:r>
              <a:rPr lang="en-US" sz="2400" cap="none" dirty="0">
                <a:latin typeface="Times New Roman" panose="02020603050405020304" pitchFamily="18" charset="0"/>
                <a:cs typeface="Times New Roman" panose="02020603050405020304" pitchFamily="18" charset="0"/>
              </a:rPr>
              <a:t>Better accessibility for primary and remote healthcare settings.</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1952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66973-026D-9224-5D53-2036C643C83E}"/>
              </a:ext>
            </a:extLst>
          </p:cNvPr>
          <p:cNvSpPr>
            <a:spLocks noGrp="1"/>
          </p:cNvSpPr>
          <p:nvPr>
            <p:ph type="title"/>
          </p:nvPr>
        </p:nvSpPr>
        <p:spPr>
          <a:xfrm>
            <a:off x="913773" y="-273720"/>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9F2FE97A-F5F6-6E8E-325B-A0BE0343E2EB}"/>
              </a:ext>
            </a:extLst>
          </p:cNvPr>
          <p:cNvGraphicFramePr>
            <a:graphicFrameLocks noGrp="1"/>
          </p:cNvGraphicFramePr>
          <p:nvPr>
            <p:ph sz="quarter" idx="13"/>
            <p:extLst>
              <p:ext uri="{D42A27DB-BD31-4B8C-83A1-F6EECF244321}">
                <p14:modId xmlns:p14="http://schemas.microsoft.com/office/powerpoint/2010/main" val="514670465"/>
              </p:ext>
            </p:extLst>
          </p:nvPr>
        </p:nvGraphicFramePr>
        <p:xfrm>
          <a:off x="836579" y="966217"/>
          <a:ext cx="10441645" cy="5580887"/>
        </p:xfrm>
        <a:graphic>
          <a:graphicData uri="http://schemas.openxmlformats.org/drawingml/2006/table">
            <a:tbl>
              <a:tblPr firstRow="1" bandRow="1">
                <a:tableStyleId>{7DF18680-E054-41AD-8BC1-D1AEF772440D}</a:tableStyleId>
              </a:tblPr>
              <a:tblGrid>
                <a:gridCol w="837977">
                  <a:extLst>
                    <a:ext uri="{9D8B030D-6E8A-4147-A177-3AD203B41FA5}">
                      <a16:colId xmlns:a16="http://schemas.microsoft.com/office/drawing/2014/main" val="1771716830"/>
                    </a:ext>
                  </a:extLst>
                </a:gridCol>
                <a:gridCol w="2712403">
                  <a:extLst>
                    <a:ext uri="{9D8B030D-6E8A-4147-A177-3AD203B41FA5}">
                      <a16:colId xmlns:a16="http://schemas.microsoft.com/office/drawing/2014/main" val="2901754784"/>
                    </a:ext>
                  </a:extLst>
                </a:gridCol>
                <a:gridCol w="2522471">
                  <a:extLst>
                    <a:ext uri="{9D8B030D-6E8A-4147-A177-3AD203B41FA5}">
                      <a16:colId xmlns:a16="http://schemas.microsoft.com/office/drawing/2014/main" val="612649610"/>
                    </a:ext>
                  </a:extLst>
                </a:gridCol>
                <a:gridCol w="2184397">
                  <a:extLst>
                    <a:ext uri="{9D8B030D-6E8A-4147-A177-3AD203B41FA5}">
                      <a16:colId xmlns:a16="http://schemas.microsoft.com/office/drawing/2014/main" val="219300978"/>
                    </a:ext>
                  </a:extLst>
                </a:gridCol>
                <a:gridCol w="2184397">
                  <a:extLst>
                    <a:ext uri="{9D8B030D-6E8A-4147-A177-3AD203B41FA5}">
                      <a16:colId xmlns:a16="http://schemas.microsoft.com/office/drawing/2014/main" val="889981890"/>
                    </a:ext>
                  </a:extLst>
                </a:gridCol>
              </a:tblGrid>
              <a:tr h="747739">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latin typeface="Times New Roman" panose="02020603050405020304" pitchFamily="18" charset="0"/>
                          <a:cs typeface="Times New Roman" panose="02020603050405020304" pitchFamily="18" charset="0"/>
                        </a:rPr>
                        <a:t>Author(s)/Year</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Technique Used</a:t>
                      </a:r>
                    </a:p>
                  </a:txBody>
                  <a:tcPr/>
                </a:tc>
                <a:tc>
                  <a:txBody>
                    <a:bodyPr/>
                    <a:lstStyle/>
                    <a:p>
                      <a:pPr algn="ctr"/>
                      <a:r>
                        <a:rPr lang="en-IN" sz="2000" dirty="0">
                          <a:latin typeface="Times New Roman" panose="02020603050405020304" pitchFamily="18" charset="0"/>
                          <a:cs typeface="Times New Roman" panose="02020603050405020304" pitchFamily="18" charset="0"/>
                        </a:rPr>
                        <a:t>Research Gap</a:t>
                      </a:r>
                    </a:p>
                  </a:txBody>
                  <a:tcPr/>
                </a:tc>
                <a:extLst>
                  <a:ext uri="{0D108BD9-81ED-4DB2-BD59-A6C34878D82A}">
                    <a16:rowId xmlns:a16="http://schemas.microsoft.com/office/drawing/2014/main" val="2885615998"/>
                  </a:ext>
                </a:extLst>
              </a:tr>
              <a:tr h="2321750">
                <a:tc>
                  <a:txBody>
                    <a:bodyPr/>
                    <a:lstStyle/>
                    <a:p>
                      <a:pPr algn="ctr"/>
                      <a:r>
                        <a:rPr lang="en-IN" dirty="0">
                          <a:latin typeface="Times New Roman" panose="02020603050405020304" pitchFamily="18" charset="0"/>
                          <a:cs typeface="Times New Roman" panose="02020603050405020304" pitchFamily="18" charset="0"/>
                        </a:rPr>
                        <a:t>1.</a:t>
                      </a:r>
                    </a:p>
                  </a:txBody>
                  <a:tcPr/>
                </a:tc>
                <a:tc>
                  <a:txBody>
                    <a:bodyPr/>
                    <a:lstStyle/>
                    <a:p>
                      <a:pPr algn="just"/>
                      <a:r>
                        <a:rPr lang="en-US" dirty="0">
                          <a:latin typeface="Times New Roman" panose="02020603050405020304" pitchFamily="18" charset="0"/>
                          <a:cs typeface="Times New Roman" panose="02020603050405020304" pitchFamily="18" charset="0"/>
                        </a:rPr>
                        <a:t>Unified deep learning approach for prediction of Parkinson’s disease</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Wingate et al., (2020)</a:t>
                      </a:r>
                    </a:p>
                  </a:txBody>
                  <a:tcPr/>
                </a:tc>
                <a:tc>
                  <a:txBody>
                    <a:bodyPr/>
                    <a:lstStyle/>
                    <a:p>
                      <a:pPr algn="just"/>
                      <a:r>
                        <a:rPr lang="en-US" dirty="0">
                          <a:latin typeface="Times New Roman" panose="02020603050405020304" pitchFamily="18" charset="0"/>
                          <a:cs typeface="Times New Roman" panose="02020603050405020304" pitchFamily="18" charset="0"/>
                        </a:rPr>
                        <a:t>Deep Neural Network for PD classification</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Focused on single modality, no multimodal fusion</a:t>
                      </a:r>
                    </a:p>
                  </a:txBody>
                  <a:tcPr/>
                </a:tc>
                <a:extLst>
                  <a:ext uri="{0D108BD9-81ED-4DB2-BD59-A6C34878D82A}">
                    <a16:rowId xmlns:a16="http://schemas.microsoft.com/office/drawing/2014/main" val="1546274871"/>
                  </a:ext>
                </a:extLst>
              </a:tr>
              <a:tr h="2511398">
                <a:tc>
                  <a:txBody>
                    <a:bodyPr/>
                    <a:lstStyle/>
                    <a:p>
                      <a:pPr algn="ctr"/>
                      <a:r>
                        <a:rPr lang="en-IN" dirty="0">
                          <a:latin typeface="Times New Roman" panose="02020603050405020304" pitchFamily="18" charset="0"/>
                          <a:cs typeface="Times New Roman" panose="02020603050405020304" pitchFamily="18" charset="0"/>
                        </a:rPr>
                        <a:t>2.</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Deeply Trained Real-Time Body Sensor Networks for Analyzing the Symptoms of Parkinson’s Disease</a:t>
                      </a:r>
                      <a:endParaRPr lang="en-IN" sz="1800" b="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i-FI" sz="1800" b="0" dirty="0">
                          <a:latin typeface="Times New Roman" panose="02020603050405020304" pitchFamily="18" charset="0"/>
                          <a:cs typeface="Times New Roman" panose="02020603050405020304" pitchFamily="18" charset="0"/>
                        </a:rPr>
                        <a:t>Rajasoundaran Soundararajan et al., (2022)</a:t>
                      </a:r>
                      <a:endParaRPr lang="en-IN" sz="1800" b="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Deep Neural Network for PD classification</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Limited to wearable sensor data only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4915281"/>
                  </a:ext>
                </a:extLst>
              </a:tr>
            </a:tbl>
          </a:graphicData>
        </a:graphic>
      </p:graphicFrame>
    </p:spTree>
    <p:extLst>
      <p:ext uri="{BB962C8B-B14F-4D97-AF65-F5344CB8AC3E}">
        <p14:creationId xmlns:p14="http://schemas.microsoft.com/office/powerpoint/2010/main" val="827095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D2FF-5550-4220-98ED-71F47FBE05D5}"/>
              </a:ext>
            </a:extLst>
          </p:cNvPr>
          <p:cNvSpPr>
            <a:spLocks noGrp="1"/>
          </p:cNvSpPr>
          <p:nvPr>
            <p:ph type="title"/>
          </p:nvPr>
        </p:nvSpPr>
        <p:spPr>
          <a:xfrm>
            <a:off x="769841" y="-268886"/>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7F6DFF66-006D-3221-E00F-6C37CE7F3AF4}"/>
              </a:ext>
            </a:extLst>
          </p:cNvPr>
          <p:cNvGraphicFramePr>
            <a:graphicFrameLocks noGrp="1"/>
          </p:cNvGraphicFramePr>
          <p:nvPr>
            <p:ph sz="quarter" idx="13"/>
            <p:extLst>
              <p:ext uri="{D42A27DB-BD31-4B8C-83A1-F6EECF244321}">
                <p14:modId xmlns:p14="http://schemas.microsoft.com/office/powerpoint/2010/main" val="3863935268"/>
              </p:ext>
            </p:extLst>
          </p:nvPr>
        </p:nvGraphicFramePr>
        <p:xfrm>
          <a:off x="1057708" y="926592"/>
          <a:ext cx="10206921" cy="5402205"/>
        </p:xfrm>
        <a:graphic>
          <a:graphicData uri="http://schemas.openxmlformats.org/drawingml/2006/table">
            <a:tbl>
              <a:tblPr firstRow="1" bandRow="1">
                <a:tableStyleId>{7DF18680-E054-41AD-8BC1-D1AEF772440D}</a:tableStyleId>
              </a:tblPr>
              <a:tblGrid>
                <a:gridCol w="926735">
                  <a:extLst>
                    <a:ext uri="{9D8B030D-6E8A-4147-A177-3AD203B41FA5}">
                      <a16:colId xmlns:a16="http://schemas.microsoft.com/office/drawing/2014/main" val="1734676967"/>
                    </a:ext>
                  </a:extLst>
                </a:gridCol>
                <a:gridCol w="2872123">
                  <a:extLst>
                    <a:ext uri="{9D8B030D-6E8A-4147-A177-3AD203B41FA5}">
                      <a16:colId xmlns:a16="http://schemas.microsoft.com/office/drawing/2014/main" val="2774275399"/>
                    </a:ext>
                  </a:extLst>
                </a:gridCol>
                <a:gridCol w="2136021">
                  <a:extLst>
                    <a:ext uri="{9D8B030D-6E8A-4147-A177-3AD203B41FA5}">
                      <a16:colId xmlns:a16="http://schemas.microsoft.com/office/drawing/2014/main" val="2910576987"/>
                    </a:ext>
                  </a:extLst>
                </a:gridCol>
                <a:gridCol w="2136021">
                  <a:extLst>
                    <a:ext uri="{9D8B030D-6E8A-4147-A177-3AD203B41FA5}">
                      <a16:colId xmlns:a16="http://schemas.microsoft.com/office/drawing/2014/main" val="1546800108"/>
                    </a:ext>
                  </a:extLst>
                </a:gridCol>
                <a:gridCol w="2136021">
                  <a:extLst>
                    <a:ext uri="{9D8B030D-6E8A-4147-A177-3AD203B41FA5}">
                      <a16:colId xmlns:a16="http://schemas.microsoft.com/office/drawing/2014/main" val="2156496005"/>
                    </a:ext>
                  </a:extLst>
                </a:gridCol>
              </a:tblGrid>
              <a:tr h="638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Paper Title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latin typeface="Times New Roman" panose="02020603050405020304" pitchFamily="18" charset="0"/>
                          <a:cs typeface="Times New Roman" panose="02020603050405020304" pitchFamily="18" charset="0"/>
                        </a:rPr>
                        <a:t>Author(s)</a:t>
                      </a:r>
                    </a:p>
                    <a:p>
                      <a:pPr algn="ctr"/>
                      <a:endParaRPr lang="en-IN" sz="20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4675639"/>
                  </a:ext>
                </a:extLst>
              </a:tr>
              <a:tr h="2167514">
                <a:tc>
                  <a:txBody>
                    <a:bodyPr/>
                    <a:lstStyle/>
                    <a:p>
                      <a:pPr algn="ctr"/>
                      <a:r>
                        <a:rPr lang="en-IN" sz="1800" b="0" dirty="0">
                          <a:latin typeface="Times New Roman" panose="02020603050405020304" pitchFamily="18" charset="0"/>
                          <a:cs typeface="Times New Roman" panose="02020603050405020304" pitchFamily="18" charset="0"/>
                        </a:rPr>
                        <a:t>3.</a:t>
                      </a:r>
                    </a:p>
                  </a:txBody>
                  <a:tcPr/>
                </a:tc>
                <a:tc>
                  <a:txBody>
                    <a:bodyPr/>
                    <a:lstStyle/>
                    <a:p>
                      <a:pPr algn="just"/>
                      <a:r>
                        <a:rPr lang="en-US" sz="1800" b="0" dirty="0">
                          <a:latin typeface="Times New Roman" panose="02020603050405020304" pitchFamily="18" charset="0"/>
                          <a:cs typeface="Times New Roman" panose="02020603050405020304" pitchFamily="18" charset="0"/>
                        </a:rPr>
                        <a:t>A Deep Learning Approach for Parkinson’s Disease Severity Assessment</a:t>
                      </a:r>
                      <a:endParaRPr lang="en-IN" sz="18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anose="02020603050405020304" pitchFamily="18" charset="0"/>
                          <a:cs typeface="Times New Roman" panose="02020603050405020304" pitchFamily="18" charset="0"/>
                        </a:rPr>
                        <a:t> Tunç </a:t>
                      </a:r>
                      <a:r>
                        <a:rPr lang="en-IN" sz="1800" b="0" dirty="0" err="1">
                          <a:latin typeface="Times New Roman" panose="02020603050405020304" pitchFamily="18" charset="0"/>
                          <a:cs typeface="Times New Roman" panose="02020603050405020304" pitchFamily="18" charset="0"/>
                        </a:rPr>
                        <a:t>Aşuroğlu</a:t>
                      </a:r>
                      <a:r>
                        <a:rPr lang="en-IN" sz="1800" b="0" dirty="0">
                          <a:latin typeface="Times New Roman" panose="02020603050405020304" pitchFamily="18" charset="0"/>
                          <a:cs typeface="Times New Roman" panose="02020603050405020304" pitchFamily="18" charset="0"/>
                        </a:rPr>
                        <a:t> &amp; Hasan </a:t>
                      </a:r>
                      <a:r>
                        <a:rPr lang="en-IN" sz="1800" b="0" dirty="0" err="1">
                          <a:latin typeface="Times New Roman" panose="02020603050405020304" pitchFamily="18" charset="0"/>
                          <a:cs typeface="Times New Roman" panose="02020603050405020304" pitchFamily="18" charset="0"/>
                        </a:rPr>
                        <a:t>Oğul</a:t>
                      </a:r>
                      <a:r>
                        <a:rPr lang="en-IN" sz="1800" b="0" dirty="0">
                          <a:latin typeface="Times New Roman" panose="02020603050405020304" pitchFamily="18" charset="0"/>
                          <a:cs typeface="Times New Roman" panose="02020603050405020304" pitchFamily="18" charset="0"/>
                        </a:rPr>
                        <a:t>, (2022)</a:t>
                      </a:r>
                    </a:p>
                    <a:p>
                      <a:pPr algn="just"/>
                      <a:endParaRPr lang="en-IN" sz="1800" b="0"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CNN-based severity prediction</a:t>
                      </a:r>
                      <a:endParaRPr lang="en-IN" sz="1800" b="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Does not combine multiple biomarkers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6200489"/>
                  </a:ext>
                </a:extLst>
              </a:tr>
              <a:tr h="2533651">
                <a:tc>
                  <a:txBody>
                    <a:bodyPr/>
                    <a:lstStyle/>
                    <a:p>
                      <a:pPr algn="ctr"/>
                      <a:r>
                        <a:rPr lang="en-IN" sz="1800" dirty="0">
                          <a:latin typeface="Times New Roman" panose="02020603050405020304" pitchFamily="18" charset="0"/>
                          <a:cs typeface="Times New Roman" panose="02020603050405020304" pitchFamily="18" charset="0"/>
                        </a:rPr>
                        <a:t>4.</a:t>
                      </a:r>
                    </a:p>
                  </a:txBody>
                  <a:tcPr/>
                </a:tc>
                <a:tc>
                  <a:txBody>
                    <a:bodyPr/>
                    <a:lstStyle/>
                    <a:p>
                      <a:pPr algn="just"/>
                      <a:r>
                        <a:rPr lang="en-US" sz="1800" dirty="0">
                          <a:latin typeface="Times New Roman" panose="02020603050405020304" pitchFamily="18" charset="0"/>
                          <a:cs typeface="Times New Roman" panose="02020603050405020304" pitchFamily="18" charset="0"/>
                        </a:rPr>
                        <a:t>A Vision-Based Framework for Predicting Multiple Sclerosis and Parkinson’s Disease Gait Dysfunctions — A Deep Learning Approach</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Rachneet Kaur, Robert W. Motl, Richard Sowers &amp; Manuel E. Hernandez, (2023)</a:t>
                      </a:r>
                    </a:p>
                    <a:p>
                      <a:pPr algn="just"/>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Vision + CNN for gait analysis</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Only gait data considered</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9993129"/>
                  </a:ext>
                </a:extLst>
              </a:tr>
            </a:tbl>
          </a:graphicData>
        </a:graphic>
      </p:graphicFrame>
    </p:spTree>
    <p:extLst>
      <p:ext uri="{BB962C8B-B14F-4D97-AF65-F5344CB8AC3E}">
        <p14:creationId xmlns:p14="http://schemas.microsoft.com/office/powerpoint/2010/main" val="3688772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696E9-59F2-41D2-1B93-DBFF99700FD1}"/>
              </a:ext>
            </a:extLst>
          </p:cNvPr>
          <p:cNvSpPr>
            <a:spLocks noGrp="1"/>
          </p:cNvSpPr>
          <p:nvPr>
            <p:ph type="title"/>
          </p:nvPr>
        </p:nvSpPr>
        <p:spPr>
          <a:xfrm>
            <a:off x="745779" y="-365190"/>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85956AD7-FC4D-3DF5-926C-EAA8A46E304E}"/>
              </a:ext>
            </a:extLst>
          </p:cNvPr>
          <p:cNvGraphicFramePr>
            <a:graphicFrameLocks noGrp="1"/>
          </p:cNvGraphicFramePr>
          <p:nvPr>
            <p:ph sz="quarter" idx="13"/>
            <p:extLst>
              <p:ext uri="{D42A27DB-BD31-4B8C-83A1-F6EECF244321}">
                <p14:modId xmlns:p14="http://schemas.microsoft.com/office/powerpoint/2010/main" val="2835366450"/>
              </p:ext>
            </p:extLst>
          </p:nvPr>
        </p:nvGraphicFramePr>
        <p:xfrm>
          <a:off x="914402" y="943893"/>
          <a:ext cx="10531820" cy="5412820"/>
        </p:xfrm>
        <a:graphic>
          <a:graphicData uri="http://schemas.openxmlformats.org/drawingml/2006/table">
            <a:tbl>
              <a:tblPr firstRow="1" bandRow="1">
                <a:tableStyleId>{7DF18680-E054-41AD-8BC1-D1AEF772440D}</a:tableStyleId>
              </a:tblPr>
              <a:tblGrid>
                <a:gridCol w="853601">
                  <a:extLst>
                    <a:ext uri="{9D8B030D-6E8A-4147-A177-3AD203B41FA5}">
                      <a16:colId xmlns:a16="http://schemas.microsoft.com/office/drawing/2014/main" val="389738361"/>
                    </a:ext>
                  </a:extLst>
                </a:gridCol>
                <a:gridCol w="2932977">
                  <a:extLst>
                    <a:ext uri="{9D8B030D-6E8A-4147-A177-3AD203B41FA5}">
                      <a16:colId xmlns:a16="http://schemas.microsoft.com/office/drawing/2014/main" val="2265273077"/>
                    </a:ext>
                  </a:extLst>
                </a:gridCol>
                <a:gridCol w="2248414">
                  <a:extLst>
                    <a:ext uri="{9D8B030D-6E8A-4147-A177-3AD203B41FA5}">
                      <a16:colId xmlns:a16="http://schemas.microsoft.com/office/drawing/2014/main" val="3861770259"/>
                    </a:ext>
                  </a:extLst>
                </a:gridCol>
                <a:gridCol w="2248414">
                  <a:extLst>
                    <a:ext uri="{9D8B030D-6E8A-4147-A177-3AD203B41FA5}">
                      <a16:colId xmlns:a16="http://schemas.microsoft.com/office/drawing/2014/main" val="1480377769"/>
                    </a:ext>
                  </a:extLst>
                </a:gridCol>
                <a:gridCol w="2248414">
                  <a:extLst>
                    <a:ext uri="{9D8B030D-6E8A-4147-A177-3AD203B41FA5}">
                      <a16:colId xmlns:a16="http://schemas.microsoft.com/office/drawing/2014/main" val="1674523722"/>
                    </a:ext>
                  </a:extLst>
                </a:gridCol>
              </a:tblGrid>
              <a:tr h="6204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31247005"/>
                  </a:ext>
                </a:extLst>
              </a:tr>
              <a:tr h="2355890">
                <a:tc>
                  <a:txBody>
                    <a:bodyPr/>
                    <a:lstStyle/>
                    <a:p>
                      <a:pPr algn="ctr"/>
                      <a:r>
                        <a:rPr lang="en-IN" sz="1800" dirty="0">
                          <a:latin typeface="Times New Roman" panose="02020603050405020304" pitchFamily="18" charset="0"/>
                          <a:cs typeface="Times New Roman" panose="02020603050405020304" pitchFamily="18" charset="0"/>
                        </a:rPr>
                        <a:t>5.</a:t>
                      </a:r>
                    </a:p>
                  </a:txBody>
                  <a:tcPr/>
                </a:tc>
                <a:tc>
                  <a:txBody>
                    <a:bodyPr/>
                    <a:lstStyle/>
                    <a:p>
                      <a:pPr algn="just"/>
                      <a:r>
                        <a:rPr lang="en-US" sz="1800" dirty="0">
                          <a:latin typeface="Times New Roman" panose="02020603050405020304" pitchFamily="18" charset="0"/>
                          <a:cs typeface="Times New Roman" panose="02020603050405020304" pitchFamily="18" charset="0"/>
                        </a:rPr>
                        <a:t>Bridging Imaging and Clinical Scores in Parkinson’s Progression via Multimodal Self-Supervised Deep Learning</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Francisco J. Martinez-Murcia et al., (2024)</a:t>
                      </a:r>
                    </a:p>
                    <a:p>
                      <a:pPr algn="just"/>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Multimodal fusion + Self-supervised learning</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Uses imaging + clinical data, not simple wearable signals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24316471"/>
                  </a:ext>
                </a:extLst>
              </a:tr>
              <a:tr h="2355890">
                <a:tc>
                  <a:txBody>
                    <a:bodyPr/>
                    <a:lstStyle/>
                    <a:p>
                      <a:pPr algn="ctr"/>
                      <a:r>
                        <a:rPr lang="en-IN" dirty="0">
                          <a:latin typeface="Times New Roman" panose="02020603050405020304" pitchFamily="18" charset="0"/>
                          <a:cs typeface="Times New Roman" panose="02020603050405020304" pitchFamily="18" charset="0"/>
                        </a:rPr>
                        <a:t>6.</a:t>
                      </a:r>
                    </a:p>
                  </a:txBody>
                  <a:tcPr/>
                </a:tc>
                <a:tc>
                  <a:txBody>
                    <a:bodyPr/>
                    <a:lstStyle/>
                    <a:p>
                      <a:pPr algn="just"/>
                      <a:r>
                        <a:rPr lang="en-US" dirty="0">
                          <a:latin typeface="Times New Roman" panose="02020603050405020304" pitchFamily="18" charset="0"/>
                          <a:cs typeface="Times New Roman" panose="02020603050405020304" pitchFamily="18" charset="0"/>
                        </a:rPr>
                        <a:t>Advancing Parkinson’s Disease Severity Prediction Using Multimodal Convolutional Recursive Deep Belief Networks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Shaikh Abdul Hannan, (2024)</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CNN + Recursive Deep Belief Network</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High complexity, not focused on early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4513860"/>
                  </a:ext>
                </a:extLst>
              </a:tr>
            </a:tbl>
          </a:graphicData>
        </a:graphic>
      </p:graphicFrame>
    </p:spTree>
    <p:extLst>
      <p:ext uri="{BB962C8B-B14F-4D97-AF65-F5344CB8AC3E}">
        <p14:creationId xmlns:p14="http://schemas.microsoft.com/office/powerpoint/2010/main" val="3436162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C9A2C-8F36-2163-7D6F-EB0DF5EFCB82}"/>
              </a:ext>
            </a:extLst>
          </p:cNvPr>
          <p:cNvSpPr>
            <a:spLocks noGrp="1"/>
          </p:cNvSpPr>
          <p:nvPr>
            <p:ph type="title"/>
          </p:nvPr>
        </p:nvSpPr>
        <p:spPr>
          <a:xfrm>
            <a:off x="913774" y="-350414"/>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C4394A3F-E233-02C7-11AD-50977018E0EE}"/>
              </a:ext>
            </a:extLst>
          </p:cNvPr>
          <p:cNvGraphicFramePr>
            <a:graphicFrameLocks noGrp="1"/>
          </p:cNvGraphicFramePr>
          <p:nvPr>
            <p:ph sz="quarter" idx="13"/>
            <p:extLst>
              <p:ext uri="{D42A27DB-BD31-4B8C-83A1-F6EECF244321}">
                <p14:modId xmlns:p14="http://schemas.microsoft.com/office/powerpoint/2010/main" val="575184567"/>
              </p:ext>
            </p:extLst>
          </p:nvPr>
        </p:nvGraphicFramePr>
        <p:xfrm>
          <a:off x="982493" y="813787"/>
          <a:ext cx="10364451" cy="5834663"/>
        </p:xfrm>
        <a:graphic>
          <a:graphicData uri="http://schemas.openxmlformats.org/drawingml/2006/table">
            <a:tbl>
              <a:tblPr firstRow="1" bandRow="1">
                <a:tableStyleId>{7DF18680-E054-41AD-8BC1-D1AEF772440D}</a:tableStyleId>
              </a:tblPr>
              <a:tblGrid>
                <a:gridCol w="836426">
                  <a:extLst>
                    <a:ext uri="{9D8B030D-6E8A-4147-A177-3AD203B41FA5}">
                      <a16:colId xmlns:a16="http://schemas.microsoft.com/office/drawing/2014/main" val="898817536"/>
                    </a:ext>
                  </a:extLst>
                </a:gridCol>
                <a:gridCol w="3130954">
                  <a:extLst>
                    <a:ext uri="{9D8B030D-6E8A-4147-A177-3AD203B41FA5}">
                      <a16:colId xmlns:a16="http://schemas.microsoft.com/office/drawing/2014/main" val="3931281445"/>
                    </a:ext>
                  </a:extLst>
                </a:gridCol>
                <a:gridCol w="2132357">
                  <a:extLst>
                    <a:ext uri="{9D8B030D-6E8A-4147-A177-3AD203B41FA5}">
                      <a16:colId xmlns:a16="http://schemas.microsoft.com/office/drawing/2014/main" val="3311799459"/>
                    </a:ext>
                  </a:extLst>
                </a:gridCol>
                <a:gridCol w="2132357">
                  <a:extLst>
                    <a:ext uri="{9D8B030D-6E8A-4147-A177-3AD203B41FA5}">
                      <a16:colId xmlns:a16="http://schemas.microsoft.com/office/drawing/2014/main" val="4137542332"/>
                    </a:ext>
                  </a:extLst>
                </a:gridCol>
                <a:gridCol w="2132357">
                  <a:extLst>
                    <a:ext uri="{9D8B030D-6E8A-4147-A177-3AD203B41FA5}">
                      <a16:colId xmlns:a16="http://schemas.microsoft.com/office/drawing/2014/main" val="4037230762"/>
                    </a:ext>
                  </a:extLst>
                </a:gridCol>
              </a:tblGrid>
              <a:tr h="661503">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8518224"/>
                  </a:ext>
                </a:extLst>
              </a:tr>
              <a:tr h="2447021">
                <a:tc>
                  <a:txBody>
                    <a:bodyPr/>
                    <a:lstStyle/>
                    <a:p>
                      <a:pPr algn="ctr"/>
                      <a:r>
                        <a:rPr lang="en-IN" dirty="0">
                          <a:latin typeface="Times New Roman" panose="02020603050405020304" pitchFamily="18" charset="0"/>
                          <a:cs typeface="Times New Roman" panose="02020603050405020304" pitchFamily="18" charset="0"/>
                        </a:rPr>
                        <a:t>7.</a:t>
                      </a:r>
                    </a:p>
                  </a:txBody>
                  <a:tcPr/>
                </a:tc>
                <a:tc>
                  <a:txBody>
                    <a:bodyPr/>
                    <a:lstStyle/>
                    <a:p>
                      <a:pPr algn="just"/>
                      <a:r>
                        <a:rPr lang="en-US" dirty="0">
                          <a:latin typeface="Times New Roman" panose="02020603050405020304" pitchFamily="18" charset="0"/>
                          <a:cs typeface="Times New Roman" panose="02020603050405020304" pitchFamily="18" charset="0"/>
                        </a:rPr>
                        <a:t>An improved method for diagnosis of Parkinson’s disease using deep learning models enhanced with metaheuristic algorithm</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Babita Majhi, Aarti Kashyap, Siddhartha S. Mohanty, Sujata Dash, Saurav Mallik, </a:t>
                      </a:r>
                      <a:r>
                        <a:rPr lang="en-IN" dirty="0" err="1">
                          <a:latin typeface="Times New Roman" panose="02020603050405020304" pitchFamily="18" charset="0"/>
                          <a:cs typeface="Times New Roman" panose="02020603050405020304" pitchFamily="18" charset="0"/>
                        </a:rPr>
                        <a:t>Aimin</a:t>
                      </a:r>
                      <a:r>
                        <a:rPr lang="en-IN" dirty="0">
                          <a:latin typeface="Times New Roman" panose="02020603050405020304" pitchFamily="18" charset="0"/>
                          <a:cs typeface="Times New Roman" panose="02020603050405020304" pitchFamily="18" charset="0"/>
                        </a:rPr>
                        <a:t> Li, </a:t>
                      </a:r>
                      <a:r>
                        <a:rPr lang="en-IN" dirty="0" err="1">
                          <a:latin typeface="Times New Roman" panose="02020603050405020304" pitchFamily="18" charset="0"/>
                          <a:cs typeface="Times New Roman" panose="02020603050405020304" pitchFamily="18" charset="0"/>
                        </a:rPr>
                        <a:t>Zhongming</a:t>
                      </a:r>
                      <a:r>
                        <a:rPr lang="en-IN" dirty="0">
                          <a:latin typeface="Times New Roman" panose="02020603050405020304" pitchFamily="18" charset="0"/>
                          <a:cs typeface="Times New Roman" panose="02020603050405020304" pitchFamily="18" charset="0"/>
                        </a:rPr>
                        <a:t> Zhao(2024)</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Deep Learning + Optimization algorithm</a:t>
                      </a:r>
                    </a:p>
                  </a:txBody>
                  <a:tcPr/>
                </a:tc>
                <a:tc>
                  <a:txBody>
                    <a:bodyPr/>
                    <a:lstStyle/>
                    <a:p>
                      <a:pPr algn="just"/>
                      <a:r>
                        <a:rPr lang="en-US" dirty="0">
                          <a:latin typeface="Times New Roman" panose="02020603050405020304" pitchFamily="18" charset="0"/>
                          <a:cs typeface="Times New Roman" panose="02020603050405020304" pitchFamily="18" charset="0"/>
                        </a:rPr>
                        <a:t>Single data type, limited real-world validation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4920504"/>
                  </a:ext>
                </a:extLst>
              </a:tr>
              <a:tr h="2686602">
                <a:tc>
                  <a:txBody>
                    <a:bodyPr/>
                    <a:lstStyle/>
                    <a:p>
                      <a:pPr algn="ctr"/>
                      <a:r>
                        <a:rPr lang="en-IN" dirty="0">
                          <a:latin typeface="Times New Roman" panose="02020603050405020304" pitchFamily="18" charset="0"/>
                          <a:cs typeface="Times New Roman" panose="02020603050405020304" pitchFamily="18" charset="0"/>
                        </a:rPr>
                        <a:t>8.</a:t>
                      </a:r>
                    </a:p>
                  </a:txBody>
                  <a:tcPr/>
                </a:tc>
                <a:tc>
                  <a:txBody>
                    <a:bodyPr/>
                    <a:lstStyle/>
                    <a:p>
                      <a:pPr algn="just"/>
                      <a:r>
                        <a:rPr lang="en-US" dirty="0">
                          <a:latin typeface="Times New Roman" panose="02020603050405020304" pitchFamily="18" charset="0"/>
                          <a:cs typeface="Times New Roman" panose="02020603050405020304" pitchFamily="18" charset="0"/>
                        </a:rPr>
                        <a:t>A Novel Hierarchical Attention-Based Multi-Modal Fusion Model for Parkinson’s Disease Classification and Severity Prediction</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Anitha Rani </a:t>
                      </a:r>
                      <a:r>
                        <a:rPr lang="en-IN" dirty="0" err="1">
                          <a:latin typeface="Times New Roman" panose="02020603050405020304" pitchFamily="18" charset="0"/>
                          <a:cs typeface="Times New Roman" panose="02020603050405020304" pitchFamily="18" charset="0"/>
                        </a:rPr>
                        <a:t>Palakayala</a:t>
                      </a:r>
                      <a:r>
                        <a:rPr lang="en-IN" dirty="0">
                          <a:latin typeface="Times New Roman" panose="02020603050405020304" pitchFamily="18" charset="0"/>
                          <a:cs typeface="Times New Roman" panose="02020603050405020304" pitchFamily="18" charset="0"/>
                        </a:rPr>
                        <a:t>, P. Kuppusamy, D. Kothandaraman, </a:t>
                      </a:r>
                      <a:r>
                        <a:rPr lang="en-IN" dirty="0" err="1">
                          <a:latin typeface="Times New Roman" panose="02020603050405020304" pitchFamily="18" charset="0"/>
                          <a:cs typeface="Times New Roman" panose="02020603050405020304" pitchFamily="18" charset="0"/>
                        </a:rPr>
                        <a:t>Gunakala</a:t>
                      </a:r>
                      <a:r>
                        <a:rPr lang="en-IN" dirty="0">
                          <a:latin typeface="Times New Roman" panose="02020603050405020304" pitchFamily="18" charset="0"/>
                          <a:cs typeface="Times New Roman" panose="02020603050405020304" pitchFamily="18" charset="0"/>
                        </a:rPr>
                        <a:t> Archana &amp; Jaideep Gera,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Attention-based Multimodal Fusion</a:t>
                      </a:r>
                    </a:p>
                  </a:txBody>
                  <a:tcPr/>
                </a:tc>
                <a:tc>
                  <a:txBody>
                    <a:bodyPr/>
                    <a:lstStyle/>
                    <a:p>
                      <a:pPr algn="just"/>
                      <a:r>
                        <a:rPr lang="en-US" dirty="0">
                          <a:latin typeface="Times New Roman" panose="02020603050405020304" pitchFamily="18" charset="0"/>
                          <a:cs typeface="Times New Roman" panose="02020603050405020304" pitchFamily="18" charset="0"/>
                        </a:rPr>
                        <a:t>Does not integrate handwriting, speech, and gait together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8642696"/>
                  </a:ext>
                </a:extLst>
              </a:tr>
            </a:tbl>
          </a:graphicData>
        </a:graphic>
      </p:graphicFrame>
    </p:spTree>
    <p:extLst>
      <p:ext uri="{BB962C8B-B14F-4D97-AF65-F5344CB8AC3E}">
        <p14:creationId xmlns:p14="http://schemas.microsoft.com/office/powerpoint/2010/main" val="242693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DE39-6FC5-BB0D-4121-D02B860CDE76}"/>
              </a:ext>
            </a:extLst>
          </p:cNvPr>
          <p:cNvSpPr>
            <a:spLocks noGrp="1"/>
          </p:cNvSpPr>
          <p:nvPr>
            <p:ph type="title"/>
          </p:nvPr>
        </p:nvSpPr>
        <p:spPr>
          <a:xfrm>
            <a:off x="1028725" y="-297735"/>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ABBC12CF-8D9D-81EC-8E0E-9961375F32D3}"/>
              </a:ext>
            </a:extLst>
          </p:cNvPr>
          <p:cNvGraphicFramePr>
            <a:graphicFrameLocks noGrp="1"/>
          </p:cNvGraphicFramePr>
          <p:nvPr>
            <p:ph sz="quarter" idx="13"/>
            <p:extLst>
              <p:ext uri="{D42A27DB-BD31-4B8C-83A1-F6EECF244321}">
                <p14:modId xmlns:p14="http://schemas.microsoft.com/office/powerpoint/2010/main" val="2700802386"/>
              </p:ext>
            </p:extLst>
          </p:nvPr>
        </p:nvGraphicFramePr>
        <p:xfrm>
          <a:off x="1028726" y="943591"/>
          <a:ext cx="10364451" cy="5603847"/>
        </p:xfrm>
        <a:graphic>
          <a:graphicData uri="http://schemas.openxmlformats.org/drawingml/2006/table">
            <a:tbl>
              <a:tblPr firstRow="1" bandRow="1">
                <a:tableStyleId>{7DF18680-E054-41AD-8BC1-D1AEF772440D}</a:tableStyleId>
              </a:tblPr>
              <a:tblGrid>
                <a:gridCol w="731136">
                  <a:extLst>
                    <a:ext uri="{9D8B030D-6E8A-4147-A177-3AD203B41FA5}">
                      <a16:colId xmlns:a16="http://schemas.microsoft.com/office/drawing/2014/main" val="2067881187"/>
                    </a:ext>
                  </a:extLst>
                </a:gridCol>
                <a:gridCol w="3056079">
                  <a:extLst>
                    <a:ext uri="{9D8B030D-6E8A-4147-A177-3AD203B41FA5}">
                      <a16:colId xmlns:a16="http://schemas.microsoft.com/office/drawing/2014/main" val="1386307861"/>
                    </a:ext>
                  </a:extLst>
                </a:gridCol>
                <a:gridCol w="2192412">
                  <a:extLst>
                    <a:ext uri="{9D8B030D-6E8A-4147-A177-3AD203B41FA5}">
                      <a16:colId xmlns:a16="http://schemas.microsoft.com/office/drawing/2014/main" val="3137979069"/>
                    </a:ext>
                  </a:extLst>
                </a:gridCol>
                <a:gridCol w="2192412">
                  <a:extLst>
                    <a:ext uri="{9D8B030D-6E8A-4147-A177-3AD203B41FA5}">
                      <a16:colId xmlns:a16="http://schemas.microsoft.com/office/drawing/2014/main" val="3210443818"/>
                    </a:ext>
                  </a:extLst>
                </a:gridCol>
                <a:gridCol w="2192412">
                  <a:extLst>
                    <a:ext uri="{9D8B030D-6E8A-4147-A177-3AD203B41FA5}">
                      <a16:colId xmlns:a16="http://schemas.microsoft.com/office/drawing/2014/main" val="3896247211"/>
                    </a:ext>
                  </a:extLst>
                </a:gridCol>
              </a:tblGrid>
              <a:tr h="639595">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685873"/>
                  </a:ext>
                </a:extLst>
              </a:tr>
              <a:tr h="2472825">
                <a:tc>
                  <a:txBody>
                    <a:bodyPr/>
                    <a:lstStyle/>
                    <a:p>
                      <a:pPr algn="ctr"/>
                      <a:r>
                        <a:rPr lang="en-IN" dirty="0">
                          <a:latin typeface="Times New Roman" panose="02020603050405020304" pitchFamily="18" charset="0"/>
                          <a:cs typeface="Times New Roman" panose="02020603050405020304" pitchFamily="18" charset="0"/>
                        </a:rPr>
                        <a:t>9.</a:t>
                      </a:r>
                    </a:p>
                  </a:txBody>
                  <a:tcPr/>
                </a:tc>
                <a:tc>
                  <a:txBody>
                    <a:bodyPr/>
                    <a:lstStyle/>
                    <a:p>
                      <a:pPr algn="just"/>
                      <a:r>
                        <a:rPr lang="en-US" dirty="0">
                          <a:latin typeface="Times New Roman" panose="02020603050405020304" pitchFamily="18" charset="0"/>
                          <a:cs typeface="Times New Roman" panose="02020603050405020304" pitchFamily="18" charset="0"/>
                        </a:rPr>
                        <a:t>Voice-Based Early Diagnosis of Parkinson’s Disease Using Spectrogram Features and AI Models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Danish Quamar, V. D. </a:t>
                      </a:r>
                      <a:r>
                        <a:rPr lang="en-IN" dirty="0" err="1">
                          <a:latin typeface="Times New Roman" panose="02020603050405020304" pitchFamily="18" charset="0"/>
                          <a:cs typeface="Times New Roman" panose="02020603050405020304" pitchFamily="18" charset="0"/>
                        </a:rPr>
                        <a:t>Ambeth</a:t>
                      </a:r>
                      <a:r>
                        <a:rPr lang="en-IN" dirty="0">
                          <a:latin typeface="Times New Roman" panose="02020603050405020304" pitchFamily="18" charset="0"/>
                          <a:cs typeface="Times New Roman" panose="02020603050405020304" pitchFamily="18" charset="0"/>
                        </a:rPr>
                        <a:t> Kumar, Muhammad Rizwan, Ovidiu </a:t>
                      </a:r>
                      <a:r>
                        <a:rPr lang="en-IN" dirty="0" err="1">
                          <a:latin typeface="Times New Roman" panose="02020603050405020304" pitchFamily="18" charset="0"/>
                          <a:cs typeface="Times New Roman" panose="02020603050405020304" pitchFamily="18" charset="0"/>
                        </a:rPr>
                        <a:t>Bagdasar</a:t>
                      </a:r>
                      <a:r>
                        <a:rPr lang="en-IN" dirty="0">
                          <a:latin typeface="Times New Roman" panose="02020603050405020304" pitchFamily="18" charset="0"/>
                          <a:cs typeface="Times New Roman" panose="02020603050405020304" pitchFamily="18" charset="0"/>
                        </a:rPr>
                        <a:t> &amp; Manuella Kadar,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Spectrogram + CNN/LSTM</a:t>
                      </a:r>
                    </a:p>
                  </a:txBody>
                  <a:tcPr/>
                </a:tc>
                <a:tc>
                  <a:txBody>
                    <a:bodyPr/>
                    <a:lstStyle/>
                    <a:p>
                      <a:pPr algn="just"/>
                      <a:r>
                        <a:rPr lang="en-IN" dirty="0">
                          <a:latin typeface="Times New Roman" panose="02020603050405020304" pitchFamily="18" charset="0"/>
                          <a:cs typeface="Times New Roman" panose="02020603050405020304" pitchFamily="18" charset="0"/>
                        </a:rPr>
                        <a:t>Only speech modality used</a:t>
                      </a:r>
                    </a:p>
                  </a:txBody>
                  <a:tcPr/>
                </a:tc>
                <a:extLst>
                  <a:ext uri="{0D108BD9-81ED-4DB2-BD59-A6C34878D82A}">
                    <a16:rowId xmlns:a16="http://schemas.microsoft.com/office/drawing/2014/main" val="354327503"/>
                  </a:ext>
                </a:extLst>
              </a:tr>
              <a:tr h="2429982">
                <a:tc>
                  <a:txBody>
                    <a:bodyPr/>
                    <a:lstStyle/>
                    <a:p>
                      <a:pPr algn="ctr"/>
                      <a:r>
                        <a:rPr lang="en-IN" dirty="0">
                          <a:latin typeface="Times New Roman" panose="02020603050405020304" pitchFamily="18" charset="0"/>
                          <a:cs typeface="Times New Roman" panose="02020603050405020304" pitchFamily="18" charset="0"/>
                        </a:rPr>
                        <a:t>10.</a:t>
                      </a:r>
                    </a:p>
                  </a:txBody>
                  <a:tcPr/>
                </a:tc>
                <a:tc>
                  <a:txBody>
                    <a:bodyPr/>
                    <a:lstStyle/>
                    <a:p>
                      <a:pPr algn="just"/>
                      <a:r>
                        <a:rPr lang="en-US" dirty="0">
                          <a:latin typeface="Times New Roman" panose="02020603050405020304" pitchFamily="18" charset="0"/>
                          <a:cs typeface="Times New Roman" panose="02020603050405020304" pitchFamily="18" charset="0"/>
                        </a:rPr>
                        <a:t>A Hybrid Multimodal Deep Learning Framework for Robust Diagnosis of Parkinson’s Disease Using Hand Tremor Analysis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sv-SE" dirty="0">
                          <a:latin typeface="Times New Roman" panose="02020603050405020304" pitchFamily="18" charset="0"/>
                          <a:cs typeface="Times New Roman" panose="02020603050405020304" pitchFamily="18" charset="0"/>
                        </a:rPr>
                        <a:t>Gauri Chandra, Tapan K. Gandhi &amp; Bhim Singh, (2025)</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CNN + Attention + Multimodal Fusion</a:t>
                      </a:r>
                    </a:p>
                  </a:txBody>
                  <a:tcPr/>
                </a:tc>
                <a:tc>
                  <a:txBody>
                    <a:bodyPr/>
                    <a:lstStyle/>
                    <a:p>
                      <a:pPr algn="just"/>
                      <a:r>
                        <a:rPr lang="en-US" dirty="0">
                          <a:latin typeface="Times New Roman" panose="02020603050405020304" pitchFamily="18" charset="0"/>
                          <a:cs typeface="Times New Roman" panose="02020603050405020304" pitchFamily="18" charset="0"/>
                        </a:rPr>
                        <a:t>Focused mainly on tremor, not full multimodal motor signals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959962"/>
                  </a:ext>
                </a:extLst>
              </a:tr>
            </a:tbl>
          </a:graphicData>
        </a:graphic>
      </p:graphicFrame>
    </p:spTree>
    <p:extLst>
      <p:ext uri="{BB962C8B-B14F-4D97-AF65-F5344CB8AC3E}">
        <p14:creationId xmlns:p14="http://schemas.microsoft.com/office/powerpoint/2010/main" val="2781935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A2CFA-E834-3C3F-2D3D-83753C74939B}"/>
              </a:ext>
            </a:extLst>
          </p:cNvPr>
          <p:cNvSpPr>
            <a:spLocks noGrp="1"/>
          </p:cNvSpPr>
          <p:nvPr>
            <p:ph type="title"/>
          </p:nvPr>
        </p:nvSpPr>
        <p:spPr>
          <a:xfrm>
            <a:off x="723009" y="-350415"/>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F02FC3E2-2CDB-C3AA-C821-BF429466B72F}"/>
              </a:ext>
            </a:extLst>
          </p:cNvPr>
          <p:cNvGraphicFramePr>
            <a:graphicFrameLocks noGrp="1"/>
          </p:cNvGraphicFramePr>
          <p:nvPr>
            <p:ph sz="quarter" idx="13"/>
            <p:extLst>
              <p:ext uri="{D42A27DB-BD31-4B8C-83A1-F6EECF244321}">
                <p14:modId xmlns:p14="http://schemas.microsoft.com/office/powerpoint/2010/main" val="3142709197"/>
              </p:ext>
            </p:extLst>
          </p:nvPr>
        </p:nvGraphicFramePr>
        <p:xfrm>
          <a:off x="1011677" y="917839"/>
          <a:ext cx="10457314" cy="5667787"/>
        </p:xfrm>
        <a:graphic>
          <a:graphicData uri="http://schemas.openxmlformats.org/drawingml/2006/table">
            <a:tbl>
              <a:tblPr firstRow="1" bandRow="1">
                <a:tableStyleId>{7DF18680-E054-41AD-8BC1-D1AEF772440D}</a:tableStyleId>
              </a:tblPr>
              <a:tblGrid>
                <a:gridCol w="965350">
                  <a:extLst>
                    <a:ext uri="{9D8B030D-6E8A-4147-A177-3AD203B41FA5}">
                      <a16:colId xmlns:a16="http://schemas.microsoft.com/office/drawing/2014/main" val="2841337422"/>
                    </a:ext>
                  </a:extLst>
                </a:gridCol>
                <a:gridCol w="2864583">
                  <a:extLst>
                    <a:ext uri="{9D8B030D-6E8A-4147-A177-3AD203B41FA5}">
                      <a16:colId xmlns:a16="http://schemas.microsoft.com/office/drawing/2014/main" val="652696615"/>
                    </a:ext>
                  </a:extLst>
                </a:gridCol>
                <a:gridCol w="2209127">
                  <a:extLst>
                    <a:ext uri="{9D8B030D-6E8A-4147-A177-3AD203B41FA5}">
                      <a16:colId xmlns:a16="http://schemas.microsoft.com/office/drawing/2014/main" val="1745894888"/>
                    </a:ext>
                  </a:extLst>
                </a:gridCol>
                <a:gridCol w="2209127">
                  <a:extLst>
                    <a:ext uri="{9D8B030D-6E8A-4147-A177-3AD203B41FA5}">
                      <a16:colId xmlns:a16="http://schemas.microsoft.com/office/drawing/2014/main" val="2020431925"/>
                    </a:ext>
                  </a:extLst>
                </a:gridCol>
                <a:gridCol w="2209127">
                  <a:extLst>
                    <a:ext uri="{9D8B030D-6E8A-4147-A177-3AD203B41FA5}">
                      <a16:colId xmlns:a16="http://schemas.microsoft.com/office/drawing/2014/main" val="807235295"/>
                    </a:ext>
                  </a:extLst>
                </a:gridCol>
              </a:tblGrid>
              <a:tr h="657835">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8521950"/>
                  </a:ext>
                </a:extLst>
              </a:tr>
              <a:tr h="2521632">
                <a:tc>
                  <a:txBody>
                    <a:bodyPr/>
                    <a:lstStyle/>
                    <a:p>
                      <a:pPr algn="ctr"/>
                      <a:r>
                        <a:rPr lang="en-IN" dirty="0">
                          <a:latin typeface="Times New Roman" panose="02020603050405020304" pitchFamily="18" charset="0"/>
                          <a:cs typeface="Times New Roman" panose="02020603050405020304" pitchFamily="18" charset="0"/>
                        </a:rPr>
                        <a:t>11.</a:t>
                      </a:r>
                    </a:p>
                  </a:txBody>
                  <a:tcPr/>
                </a:tc>
                <a:tc>
                  <a:txBody>
                    <a:bodyPr/>
                    <a:lstStyle/>
                    <a:p>
                      <a:pPr algn="just"/>
                      <a:r>
                        <a:rPr lang="en-US" dirty="0">
                          <a:latin typeface="Times New Roman" panose="02020603050405020304" pitchFamily="18" charset="0"/>
                          <a:cs typeface="Times New Roman" panose="02020603050405020304" pitchFamily="18" charset="0"/>
                        </a:rPr>
                        <a:t>A Multimodal Deep Learning Framework for Parkinson’s Disease Diagnosis Using SNP and MRI Data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err="1">
                          <a:latin typeface="Times New Roman" panose="02020603050405020304" pitchFamily="18" charset="0"/>
                          <a:cs typeface="Times New Roman" panose="02020603050405020304" pitchFamily="18" charset="0"/>
                        </a:rPr>
                        <a:t>Jiangbo</a:t>
                      </a:r>
                      <a:r>
                        <a:rPr lang="en-IN" dirty="0">
                          <a:latin typeface="Times New Roman" panose="02020603050405020304" pitchFamily="18" charset="0"/>
                          <a:cs typeface="Times New Roman" panose="02020603050405020304" pitchFamily="18" charset="0"/>
                        </a:rPr>
                        <a:t> Cao &amp; Xiaojing Long,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Attention Fusion + Deep Learning</a:t>
                      </a:r>
                    </a:p>
                  </a:txBody>
                  <a:tcPr/>
                </a:tc>
                <a:tc>
                  <a:txBody>
                    <a:bodyPr/>
                    <a:lstStyle/>
                    <a:p>
                      <a:pPr algn="just"/>
                      <a:r>
                        <a:rPr lang="en-US" dirty="0">
                          <a:latin typeface="Times New Roman" panose="02020603050405020304" pitchFamily="18" charset="0"/>
                          <a:cs typeface="Times New Roman" panose="02020603050405020304" pitchFamily="18" charset="0"/>
                        </a:rPr>
                        <a:t>Uses genetic + imaging data, not low-cost signals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4121291"/>
                  </a:ext>
                </a:extLst>
              </a:tr>
              <a:tr h="2445115">
                <a:tc>
                  <a:txBody>
                    <a:bodyPr/>
                    <a:lstStyle/>
                    <a:p>
                      <a:pPr algn="ctr"/>
                      <a:r>
                        <a:rPr lang="en-IN" dirty="0">
                          <a:latin typeface="Times New Roman" panose="02020603050405020304" pitchFamily="18" charset="0"/>
                          <a:cs typeface="Times New Roman" panose="02020603050405020304" pitchFamily="18" charset="0"/>
                        </a:rPr>
                        <a:t>12.</a:t>
                      </a:r>
                    </a:p>
                  </a:txBody>
                  <a:tcPr/>
                </a:tc>
                <a:tc>
                  <a:txBody>
                    <a:bodyPr/>
                    <a:lstStyle/>
                    <a:p>
                      <a:pPr algn="just"/>
                      <a:r>
                        <a:rPr lang="en-US" dirty="0">
                          <a:latin typeface="Times New Roman" panose="02020603050405020304" pitchFamily="18" charset="0"/>
                          <a:cs typeface="Times New Roman" panose="02020603050405020304" pitchFamily="18" charset="0"/>
                        </a:rPr>
                        <a:t>Multitask Deep Learning for Predicting Parkinson’s Progression and Depression from Multimodal Time Series Data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err="1">
                          <a:latin typeface="Times New Roman" panose="02020603050405020304" pitchFamily="18" charset="0"/>
                          <a:cs typeface="Times New Roman" panose="02020603050405020304" pitchFamily="18" charset="0"/>
                        </a:rPr>
                        <a:t>Jiangbo</a:t>
                      </a:r>
                      <a:r>
                        <a:rPr lang="en-IN" dirty="0">
                          <a:latin typeface="Times New Roman" panose="02020603050405020304" pitchFamily="18" charset="0"/>
                          <a:cs typeface="Times New Roman" panose="02020603050405020304" pitchFamily="18" charset="0"/>
                        </a:rPr>
                        <a:t> Cao &amp; Xiaojing Long,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Multitask Learning + Time-Series DL</a:t>
                      </a:r>
                    </a:p>
                  </a:txBody>
                  <a:tcPr/>
                </a:tc>
                <a:tc>
                  <a:txBody>
                    <a:bodyPr/>
                    <a:lstStyle/>
                    <a:p>
                      <a:pPr algn="just"/>
                      <a:r>
                        <a:rPr lang="en-US" dirty="0">
                          <a:latin typeface="Times New Roman" panose="02020603050405020304" pitchFamily="18" charset="0"/>
                          <a:cs typeface="Times New Roman" panose="02020603050405020304" pitchFamily="18" charset="0"/>
                        </a:rPr>
                        <a:t>Focus on progression, not early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8935400"/>
                  </a:ext>
                </a:extLst>
              </a:tr>
            </a:tbl>
          </a:graphicData>
        </a:graphic>
      </p:graphicFrame>
    </p:spTree>
    <p:extLst>
      <p:ext uri="{BB962C8B-B14F-4D97-AF65-F5344CB8AC3E}">
        <p14:creationId xmlns:p14="http://schemas.microsoft.com/office/powerpoint/2010/main" val="1182750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4821-0EBF-7F7F-E777-E7C52CAC1E99}"/>
              </a:ext>
            </a:extLst>
          </p:cNvPr>
          <p:cNvSpPr>
            <a:spLocks noGrp="1"/>
          </p:cNvSpPr>
          <p:nvPr>
            <p:ph type="title"/>
          </p:nvPr>
        </p:nvSpPr>
        <p:spPr>
          <a:xfrm>
            <a:off x="913774" y="-302439"/>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6A883CBE-7130-9CD5-1748-FFA2A0D5927A}"/>
              </a:ext>
            </a:extLst>
          </p:cNvPr>
          <p:cNvGraphicFramePr>
            <a:graphicFrameLocks noGrp="1"/>
          </p:cNvGraphicFramePr>
          <p:nvPr>
            <p:ph sz="quarter" idx="13"/>
            <p:extLst>
              <p:ext uri="{D42A27DB-BD31-4B8C-83A1-F6EECF244321}">
                <p14:modId xmlns:p14="http://schemas.microsoft.com/office/powerpoint/2010/main" val="1516843259"/>
              </p:ext>
            </p:extLst>
          </p:nvPr>
        </p:nvGraphicFramePr>
        <p:xfrm>
          <a:off x="913774" y="1013057"/>
          <a:ext cx="10457859" cy="5502574"/>
        </p:xfrm>
        <a:graphic>
          <a:graphicData uri="http://schemas.openxmlformats.org/drawingml/2006/table">
            <a:tbl>
              <a:tblPr firstRow="1" bandRow="1">
                <a:tableStyleId>{7DF18680-E054-41AD-8BC1-D1AEF772440D}</a:tableStyleId>
              </a:tblPr>
              <a:tblGrid>
                <a:gridCol w="947176">
                  <a:extLst>
                    <a:ext uri="{9D8B030D-6E8A-4147-A177-3AD203B41FA5}">
                      <a16:colId xmlns:a16="http://schemas.microsoft.com/office/drawing/2014/main" val="2830967479"/>
                    </a:ext>
                  </a:extLst>
                </a:gridCol>
                <a:gridCol w="3032012">
                  <a:extLst>
                    <a:ext uri="{9D8B030D-6E8A-4147-A177-3AD203B41FA5}">
                      <a16:colId xmlns:a16="http://schemas.microsoft.com/office/drawing/2014/main" val="3680656440"/>
                    </a:ext>
                  </a:extLst>
                </a:gridCol>
                <a:gridCol w="2159557">
                  <a:extLst>
                    <a:ext uri="{9D8B030D-6E8A-4147-A177-3AD203B41FA5}">
                      <a16:colId xmlns:a16="http://schemas.microsoft.com/office/drawing/2014/main" val="1001001088"/>
                    </a:ext>
                  </a:extLst>
                </a:gridCol>
                <a:gridCol w="2159557">
                  <a:extLst>
                    <a:ext uri="{9D8B030D-6E8A-4147-A177-3AD203B41FA5}">
                      <a16:colId xmlns:a16="http://schemas.microsoft.com/office/drawing/2014/main" val="692863135"/>
                    </a:ext>
                  </a:extLst>
                </a:gridCol>
                <a:gridCol w="2159557">
                  <a:extLst>
                    <a:ext uri="{9D8B030D-6E8A-4147-A177-3AD203B41FA5}">
                      <a16:colId xmlns:a16="http://schemas.microsoft.com/office/drawing/2014/main" val="3263497724"/>
                    </a:ext>
                  </a:extLst>
                </a:gridCol>
              </a:tblGrid>
              <a:tr h="650765">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5205061"/>
                  </a:ext>
                </a:extLst>
              </a:tr>
              <a:tr h="2289878">
                <a:tc>
                  <a:txBody>
                    <a:bodyPr/>
                    <a:lstStyle/>
                    <a:p>
                      <a:pPr algn="ctr"/>
                      <a:r>
                        <a:rPr lang="en-IN" dirty="0">
                          <a:latin typeface="Times New Roman" panose="02020603050405020304" pitchFamily="18" charset="0"/>
                          <a:cs typeface="Times New Roman" panose="02020603050405020304" pitchFamily="18" charset="0"/>
                        </a:rPr>
                        <a:t>13.</a:t>
                      </a:r>
                    </a:p>
                  </a:txBody>
                  <a:tcPr/>
                </a:tc>
                <a:tc>
                  <a:txBody>
                    <a:bodyPr/>
                    <a:lstStyle/>
                    <a:p>
                      <a:pPr algn="just"/>
                      <a:r>
                        <a:rPr lang="en-US" dirty="0">
                          <a:latin typeface="Times New Roman" panose="02020603050405020304" pitchFamily="18" charset="0"/>
                          <a:cs typeface="Times New Roman" panose="02020603050405020304" pitchFamily="18" charset="0"/>
                        </a:rPr>
                        <a:t>Prediction of Parkinson’s Disease and Severity of the Disease Using Machine Learning and Deep Learning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dirty="0">
                          <a:latin typeface="Times New Roman" panose="02020603050405020304" pitchFamily="18" charset="0"/>
                          <a:cs typeface="Times New Roman" panose="02020603050405020304" pitchFamily="18" charset="0"/>
                        </a:rPr>
                        <a:t>Rongali Naga Eswara Vara Bhavani Aliveni &amp; Matta Usha, (2025)</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Hybrid ML + DL</a:t>
                      </a:r>
                    </a:p>
                  </a:txBody>
                  <a:tcPr/>
                </a:tc>
                <a:tc>
                  <a:txBody>
                    <a:bodyPr/>
                    <a:lstStyle/>
                    <a:p>
                      <a:pPr algn="just"/>
                      <a:r>
                        <a:rPr lang="en-IN" dirty="0">
                          <a:latin typeface="Times New Roman" panose="02020603050405020304" pitchFamily="18" charset="0"/>
                          <a:cs typeface="Times New Roman" panose="02020603050405020304" pitchFamily="18" charset="0"/>
                        </a:rPr>
                        <a:t>Mainly voice-based approach</a:t>
                      </a:r>
                    </a:p>
                  </a:txBody>
                  <a:tcPr/>
                </a:tc>
                <a:extLst>
                  <a:ext uri="{0D108BD9-81ED-4DB2-BD59-A6C34878D82A}">
                    <a16:rowId xmlns:a16="http://schemas.microsoft.com/office/drawing/2014/main" val="440427807"/>
                  </a:ext>
                </a:extLst>
              </a:tr>
              <a:tr h="2511656">
                <a:tc>
                  <a:txBody>
                    <a:bodyPr/>
                    <a:lstStyle/>
                    <a:p>
                      <a:pPr algn="ctr"/>
                      <a:r>
                        <a:rPr lang="en-IN" dirty="0">
                          <a:latin typeface="Times New Roman" panose="02020603050405020304" pitchFamily="18" charset="0"/>
                          <a:cs typeface="Times New Roman" panose="02020603050405020304" pitchFamily="18" charset="0"/>
                        </a:rPr>
                        <a:t>14.</a:t>
                      </a:r>
                    </a:p>
                  </a:txBody>
                  <a:tcPr/>
                </a:tc>
                <a:tc>
                  <a:txBody>
                    <a:bodyPr/>
                    <a:lstStyle/>
                    <a:p>
                      <a:pPr algn="just"/>
                      <a:r>
                        <a:rPr lang="en-US" dirty="0">
                          <a:latin typeface="Times New Roman" panose="02020603050405020304" pitchFamily="18" charset="0"/>
                          <a:cs typeface="Times New Roman" panose="02020603050405020304" pitchFamily="18" charset="0"/>
                        </a:rPr>
                        <a:t>Parkinson’s Disease Prediction: An Attention-Based Multimodal Fusion Framework Using Handwriting and Clinical Data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da-DK" dirty="0">
                          <a:latin typeface="Times New Roman" panose="02020603050405020304" pitchFamily="18" charset="0"/>
                          <a:cs typeface="Times New Roman" panose="02020603050405020304" pitchFamily="18" charset="0"/>
                        </a:rPr>
                        <a:t>Sabrina Benredjem et al., (2025)</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Review of AI models</a:t>
                      </a:r>
                    </a:p>
                  </a:txBody>
                  <a:tcPr/>
                </a:tc>
                <a:tc>
                  <a:txBody>
                    <a:bodyPr/>
                    <a:lstStyle/>
                    <a:p>
                      <a:pPr algn="just"/>
                      <a:r>
                        <a:rPr lang="en-US" dirty="0">
                          <a:latin typeface="Times New Roman" panose="02020603050405020304" pitchFamily="18" charset="0"/>
                          <a:cs typeface="Times New Roman" panose="02020603050405020304" pitchFamily="18" charset="0"/>
                        </a:rPr>
                        <a:t>Highlights need for integrated multimodal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6980306"/>
                  </a:ext>
                </a:extLst>
              </a:tr>
            </a:tbl>
          </a:graphicData>
        </a:graphic>
      </p:graphicFrame>
    </p:spTree>
    <p:extLst>
      <p:ext uri="{BB962C8B-B14F-4D97-AF65-F5344CB8AC3E}">
        <p14:creationId xmlns:p14="http://schemas.microsoft.com/office/powerpoint/2010/main" val="3976159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16D7-2CD8-E8DD-5488-5814BC2ACA80}"/>
              </a:ext>
            </a:extLst>
          </p:cNvPr>
          <p:cNvSpPr>
            <a:spLocks noGrp="1"/>
          </p:cNvSpPr>
          <p:nvPr>
            <p:ph type="title"/>
          </p:nvPr>
        </p:nvSpPr>
        <p:spPr>
          <a:xfrm>
            <a:off x="819507" y="-186172"/>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6C8C788B-32D1-DD92-E428-86C79E0D4577}"/>
              </a:ext>
            </a:extLst>
          </p:cNvPr>
          <p:cNvGraphicFramePr>
            <a:graphicFrameLocks noGrp="1"/>
          </p:cNvGraphicFramePr>
          <p:nvPr>
            <p:ph sz="quarter" idx="13"/>
            <p:extLst>
              <p:ext uri="{D42A27DB-BD31-4B8C-83A1-F6EECF244321}">
                <p14:modId xmlns:p14="http://schemas.microsoft.com/office/powerpoint/2010/main" val="29168244"/>
              </p:ext>
            </p:extLst>
          </p:nvPr>
        </p:nvGraphicFramePr>
        <p:xfrm>
          <a:off x="819507" y="1195492"/>
          <a:ext cx="10474305" cy="5190192"/>
        </p:xfrm>
        <a:graphic>
          <a:graphicData uri="http://schemas.openxmlformats.org/drawingml/2006/table">
            <a:tbl>
              <a:tblPr firstRow="1" bandRow="1">
                <a:tableStyleId>{7DF18680-E054-41AD-8BC1-D1AEF772440D}</a:tableStyleId>
              </a:tblPr>
              <a:tblGrid>
                <a:gridCol w="995616">
                  <a:extLst>
                    <a:ext uri="{9D8B030D-6E8A-4147-A177-3AD203B41FA5}">
                      <a16:colId xmlns:a16="http://schemas.microsoft.com/office/drawing/2014/main" val="1885619330"/>
                    </a:ext>
                  </a:extLst>
                </a:gridCol>
                <a:gridCol w="2767680">
                  <a:extLst>
                    <a:ext uri="{9D8B030D-6E8A-4147-A177-3AD203B41FA5}">
                      <a16:colId xmlns:a16="http://schemas.microsoft.com/office/drawing/2014/main" val="1143714761"/>
                    </a:ext>
                  </a:extLst>
                </a:gridCol>
                <a:gridCol w="2237003">
                  <a:extLst>
                    <a:ext uri="{9D8B030D-6E8A-4147-A177-3AD203B41FA5}">
                      <a16:colId xmlns:a16="http://schemas.microsoft.com/office/drawing/2014/main" val="3763843552"/>
                    </a:ext>
                  </a:extLst>
                </a:gridCol>
                <a:gridCol w="2237003">
                  <a:extLst>
                    <a:ext uri="{9D8B030D-6E8A-4147-A177-3AD203B41FA5}">
                      <a16:colId xmlns:a16="http://schemas.microsoft.com/office/drawing/2014/main" val="975602207"/>
                    </a:ext>
                  </a:extLst>
                </a:gridCol>
                <a:gridCol w="2237003">
                  <a:extLst>
                    <a:ext uri="{9D8B030D-6E8A-4147-A177-3AD203B41FA5}">
                      <a16:colId xmlns:a16="http://schemas.microsoft.com/office/drawing/2014/main" val="1829790327"/>
                    </a:ext>
                  </a:extLst>
                </a:gridCol>
              </a:tblGrid>
              <a:tr h="6026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95474829"/>
                  </a:ext>
                </a:extLst>
              </a:tr>
              <a:tr h="2203663">
                <a:tc>
                  <a:txBody>
                    <a:bodyPr/>
                    <a:lstStyle/>
                    <a:p>
                      <a:pPr algn="ctr"/>
                      <a:r>
                        <a:rPr lang="en-IN" dirty="0">
                          <a:latin typeface="Times New Roman" panose="02020603050405020304" pitchFamily="18" charset="0"/>
                          <a:cs typeface="Times New Roman" panose="02020603050405020304" pitchFamily="18" charset="0"/>
                        </a:rPr>
                        <a:t>15.</a:t>
                      </a:r>
                    </a:p>
                  </a:txBody>
                  <a:tcPr/>
                </a:tc>
                <a:tc>
                  <a:txBody>
                    <a:bodyPr/>
                    <a:lstStyle/>
                    <a:p>
                      <a:pPr algn="just"/>
                      <a:r>
                        <a:rPr lang="en-US" dirty="0">
                          <a:latin typeface="Times New Roman" panose="02020603050405020304" pitchFamily="18" charset="0"/>
                          <a:cs typeface="Times New Roman" panose="02020603050405020304" pitchFamily="18" charset="0"/>
                        </a:rPr>
                        <a:t>Smartphone-derived multidomain</a:t>
                      </a:r>
                    </a:p>
                    <a:p>
                      <a:pPr algn="just"/>
                      <a:r>
                        <a:rPr lang="en-US" dirty="0">
                          <a:latin typeface="Times New Roman" panose="02020603050405020304" pitchFamily="18" charset="0"/>
                          <a:cs typeface="Times New Roman" panose="02020603050405020304" pitchFamily="18" charset="0"/>
                        </a:rPr>
                        <a:t>features including </a:t>
                      </a:r>
                      <a:r>
                        <a:rPr lang="en-US" dirty="0" err="1">
                          <a:latin typeface="Times New Roman" panose="02020603050405020304" pitchFamily="18" charset="0"/>
                          <a:cs typeface="Times New Roman" panose="02020603050405020304" pitchFamily="18" charset="0"/>
                        </a:rPr>
                        <a:t>voice,finger</a:t>
                      </a:r>
                      <a:r>
                        <a:rPr lang="en-US" dirty="0">
                          <a:latin typeface="Times New Roman" panose="02020603050405020304" pitchFamily="18" charset="0"/>
                          <a:cs typeface="Times New Roman" panose="02020603050405020304" pitchFamily="18" charset="0"/>
                        </a:rPr>
                        <a:t>-tapping</a:t>
                      </a:r>
                    </a:p>
                    <a:p>
                      <a:pPr algn="just"/>
                      <a:r>
                        <a:rPr lang="en-US" dirty="0">
                          <a:latin typeface="Times New Roman" panose="02020603050405020304" pitchFamily="18" charset="0"/>
                          <a:cs typeface="Times New Roman" panose="02020603050405020304" pitchFamily="18" charset="0"/>
                        </a:rPr>
                        <a:t>movement and gait aid early identification</a:t>
                      </a:r>
                    </a:p>
                    <a:p>
                      <a:pPr algn="just"/>
                      <a:r>
                        <a:rPr lang="en-US" dirty="0">
                          <a:latin typeface="Times New Roman" panose="02020603050405020304" pitchFamily="18" charset="0"/>
                          <a:cs typeface="Times New Roman" panose="02020603050405020304" pitchFamily="18" charset="0"/>
                        </a:rPr>
                        <a:t>of Parkinson’s disease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Wee-Shin Lim et al.,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Clinical Multimodal AI</a:t>
                      </a:r>
                    </a:p>
                  </a:txBody>
                  <a:tcPr/>
                </a:tc>
                <a:tc>
                  <a:txBody>
                    <a:bodyPr/>
                    <a:lstStyle/>
                    <a:p>
                      <a:pPr algn="just"/>
                      <a:r>
                        <a:rPr lang="en-US" dirty="0">
                          <a:latin typeface="Times New Roman" panose="02020603050405020304" pitchFamily="18" charset="0"/>
                          <a:cs typeface="Times New Roman" panose="02020603050405020304" pitchFamily="18" charset="0"/>
                        </a:rPr>
                        <a:t>Clinical data heavy, limited accessibility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4018474"/>
                  </a:ext>
                </a:extLst>
              </a:tr>
              <a:tr h="2285489">
                <a:tc>
                  <a:txBody>
                    <a:bodyPr/>
                    <a:lstStyle/>
                    <a:p>
                      <a:pPr algn="ctr"/>
                      <a:r>
                        <a:rPr lang="en-IN" dirty="0">
                          <a:latin typeface="Times New Roman" panose="02020603050405020304" pitchFamily="18" charset="0"/>
                          <a:cs typeface="Times New Roman" panose="02020603050405020304" pitchFamily="18" charset="0"/>
                        </a:rPr>
                        <a:t>16.</a:t>
                      </a:r>
                    </a:p>
                  </a:txBody>
                  <a:tcPr/>
                </a:tc>
                <a:tc>
                  <a:txBody>
                    <a:bodyPr/>
                    <a:lstStyle/>
                    <a:p>
                      <a:pPr algn="just"/>
                      <a:r>
                        <a:rPr lang="en-US" dirty="0">
                          <a:latin typeface="Times New Roman" panose="02020603050405020304" pitchFamily="18" charset="0"/>
                          <a:cs typeface="Times New Roman" panose="02020603050405020304" pitchFamily="18" charset="0"/>
                        </a:rPr>
                        <a:t>Deep learning for Parkinson’s disease classification using multimodal PET/MR images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Yan Chang, </a:t>
                      </a:r>
                      <a:r>
                        <a:rPr lang="en-IN" dirty="0" err="1">
                          <a:latin typeface="Times New Roman" panose="02020603050405020304" pitchFamily="18" charset="0"/>
                          <a:cs typeface="Times New Roman" panose="02020603050405020304" pitchFamily="18" charset="0"/>
                        </a:rPr>
                        <a:t>Jiajin</a:t>
                      </a:r>
                      <a:r>
                        <a:rPr lang="en-IN" dirty="0">
                          <a:latin typeface="Times New Roman" panose="02020603050405020304" pitchFamily="18" charset="0"/>
                          <a:cs typeface="Times New Roman" panose="02020603050405020304" pitchFamily="18" charset="0"/>
                        </a:rPr>
                        <a:t> Liu, </a:t>
                      </a:r>
                      <a:r>
                        <a:rPr lang="en-IN" dirty="0" err="1">
                          <a:latin typeface="Times New Roman" panose="02020603050405020304" pitchFamily="18" charset="0"/>
                          <a:cs typeface="Times New Roman" panose="02020603050405020304" pitchFamily="18" charset="0"/>
                        </a:rPr>
                        <a:t>Shuwei</a:t>
                      </a:r>
                      <a:r>
                        <a:rPr lang="en-IN" dirty="0">
                          <a:latin typeface="Times New Roman" panose="02020603050405020304" pitchFamily="18" charset="0"/>
                          <a:cs typeface="Times New Roman" panose="02020603050405020304" pitchFamily="18" charset="0"/>
                        </a:rPr>
                        <a:t> Sun, Tong Chen, </a:t>
                      </a:r>
                      <a:r>
                        <a:rPr lang="en-IN" dirty="0" err="1">
                          <a:latin typeface="Times New Roman" panose="02020603050405020304" pitchFamily="18" charset="0"/>
                          <a:cs typeface="Times New Roman" panose="02020603050405020304" pitchFamily="18" charset="0"/>
                        </a:rPr>
                        <a:t>Ruimin</a:t>
                      </a:r>
                      <a:r>
                        <a:rPr lang="en-IN" dirty="0">
                          <a:latin typeface="Times New Roman" panose="02020603050405020304" pitchFamily="18" charset="0"/>
                          <a:cs typeface="Times New Roman" panose="02020603050405020304" pitchFamily="18" charset="0"/>
                        </a:rPr>
                        <a:t> Wang(2025)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Imaging + AI Models</a:t>
                      </a:r>
                    </a:p>
                  </a:txBody>
                  <a:tcPr/>
                </a:tc>
                <a:tc>
                  <a:txBody>
                    <a:bodyPr/>
                    <a:lstStyle/>
                    <a:p>
                      <a:pPr algn="just"/>
                      <a:r>
                        <a:rPr lang="en-US" dirty="0">
                          <a:latin typeface="Times New Roman" panose="02020603050405020304" pitchFamily="18" charset="0"/>
                          <a:cs typeface="Times New Roman" panose="02020603050405020304" pitchFamily="18" charset="0"/>
                        </a:rPr>
                        <a:t>Focused only on medical imaging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44078704"/>
                  </a:ext>
                </a:extLst>
              </a:tr>
            </a:tbl>
          </a:graphicData>
        </a:graphic>
      </p:graphicFrame>
    </p:spTree>
    <p:extLst>
      <p:ext uri="{BB962C8B-B14F-4D97-AF65-F5344CB8AC3E}">
        <p14:creationId xmlns:p14="http://schemas.microsoft.com/office/powerpoint/2010/main" val="3385267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1E4B-57AB-F2BC-3922-2D44078BADFB}"/>
              </a:ext>
            </a:extLst>
          </p:cNvPr>
          <p:cNvSpPr>
            <a:spLocks noGrp="1"/>
          </p:cNvSpPr>
          <p:nvPr>
            <p:ph type="title"/>
          </p:nvPr>
        </p:nvSpPr>
        <p:spPr>
          <a:xfrm>
            <a:off x="952371" y="-123647"/>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58FA29B6-AE76-2523-3E0A-F2DFD84BA859}"/>
              </a:ext>
            </a:extLst>
          </p:cNvPr>
          <p:cNvGraphicFramePr>
            <a:graphicFrameLocks noGrp="1"/>
          </p:cNvGraphicFramePr>
          <p:nvPr>
            <p:ph sz="quarter" idx="13"/>
            <p:extLst>
              <p:ext uri="{D42A27DB-BD31-4B8C-83A1-F6EECF244321}">
                <p14:modId xmlns:p14="http://schemas.microsoft.com/office/powerpoint/2010/main" val="4196091011"/>
              </p:ext>
            </p:extLst>
          </p:nvPr>
        </p:nvGraphicFramePr>
        <p:xfrm>
          <a:off x="875176" y="1286213"/>
          <a:ext cx="10441646" cy="5071992"/>
        </p:xfrm>
        <a:graphic>
          <a:graphicData uri="http://schemas.openxmlformats.org/drawingml/2006/table">
            <a:tbl>
              <a:tblPr firstRow="1" bandRow="1">
                <a:tableStyleId>{7DF18680-E054-41AD-8BC1-D1AEF772440D}</a:tableStyleId>
              </a:tblPr>
              <a:tblGrid>
                <a:gridCol w="788800">
                  <a:extLst>
                    <a:ext uri="{9D8B030D-6E8A-4147-A177-3AD203B41FA5}">
                      <a16:colId xmlns:a16="http://schemas.microsoft.com/office/drawing/2014/main" val="2191994739"/>
                    </a:ext>
                  </a:extLst>
                </a:gridCol>
                <a:gridCol w="3043714">
                  <a:extLst>
                    <a:ext uri="{9D8B030D-6E8A-4147-A177-3AD203B41FA5}">
                      <a16:colId xmlns:a16="http://schemas.microsoft.com/office/drawing/2014/main" val="812658583"/>
                    </a:ext>
                  </a:extLst>
                </a:gridCol>
                <a:gridCol w="2203044">
                  <a:extLst>
                    <a:ext uri="{9D8B030D-6E8A-4147-A177-3AD203B41FA5}">
                      <a16:colId xmlns:a16="http://schemas.microsoft.com/office/drawing/2014/main" val="1865415765"/>
                    </a:ext>
                  </a:extLst>
                </a:gridCol>
                <a:gridCol w="2203044">
                  <a:extLst>
                    <a:ext uri="{9D8B030D-6E8A-4147-A177-3AD203B41FA5}">
                      <a16:colId xmlns:a16="http://schemas.microsoft.com/office/drawing/2014/main" val="4094892372"/>
                    </a:ext>
                  </a:extLst>
                </a:gridCol>
                <a:gridCol w="2203044">
                  <a:extLst>
                    <a:ext uri="{9D8B030D-6E8A-4147-A177-3AD203B41FA5}">
                      <a16:colId xmlns:a16="http://schemas.microsoft.com/office/drawing/2014/main" val="3667640731"/>
                    </a:ext>
                  </a:extLst>
                </a:gridCol>
              </a:tblGrid>
              <a:tr h="590054">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Technique Used</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1111815"/>
                  </a:ext>
                </a:extLst>
              </a:tr>
              <a:tr h="2185476">
                <a:tc>
                  <a:txBody>
                    <a:bodyPr/>
                    <a:lstStyle/>
                    <a:p>
                      <a:pPr algn="ctr"/>
                      <a:r>
                        <a:rPr lang="en-IN" dirty="0">
                          <a:latin typeface="Times New Roman" panose="02020603050405020304" pitchFamily="18" charset="0"/>
                          <a:cs typeface="Times New Roman" panose="02020603050405020304" pitchFamily="18" charset="0"/>
                        </a:rPr>
                        <a:t>17.</a:t>
                      </a:r>
                    </a:p>
                  </a:txBody>
                  <a:tcPr/>
                </a:tc>
                <a:tc>
                  <a:txBody>
                    <a:bodyPr/>
                    <a:lstStyle/>
                    <a:p>
                      <a:pPr algn="just"/>
                      <a:r>
                        <a:rPr lang="en-US" dirty="0">
                          <a:latin typeface="Times New Roman" panose="02020603050405020304" pitchFamily="18" charset="0"/>
                          <a:cs typeface="Times New Roman" panose="02020603050405020304" pitchFamily="18" charset="0"/>
                        </a:rPr>
                        <a:t>Parkinson’s Disease Prediction With Spiral Drawings and Wave Frequency Using Deep Conformal Neural Networks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S. SasiRekha, R. Shankar &amp; S. Duraisamy,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CNN + Frequency Analysis</a:t>
                      </a:r>
                    </a:p>
                  </a:txBody>
                  <a:tcPr/>
                </a:tc>
                <a:tc>
                  <a:txBody>
                    <a:bodyPr/>
                    <a:lstStyle/>
                    <a:p>
                      <a:pPr algn="just"/>
                      <a:r>
                        <a:rPr lang="en-IN" dirty="0">
                          <a:latin typeface="Times New Roman" panose="02020603050405020304" pitchFamily="18" charset="0"/>
                          <a:cs typeface="Times New Roman" panose="02020603050405020304" pitchFamily="18" charset="0"/>
                        </a:rPr>
                        <a:t>Only handwriting spiral used</a:t>
                      </a:r>
                    </a:p>
                  </a:txBody>
                  <a:tcPr/>
                </a:tc>
                <a:extLst>
                  <a:ext uri="{0D108BD9-81ED-4DB2-BD59-A6C34878D82A}">
                    <a16:rowId xmlns:a16="http://schemas.microsoft.com/office/drawing/2014/main" val="1579917658"/>
                  </a:ext>
                </a:extLst>
              </a:tr>
              <a:tr h="2185476">
                <a:tc>
                  <a:txBody>
                    <a:bodyPr/>
                    <a:lstStyle/>
                    <a:p>
                      <a:pPr algn="ctr"/>
                      <a:r>
                        <a:rPr lang="en-IN" dirty="0">
                          <a:latin typeface="Times New Roman" panose="02020603050405020304" pitchFamily="18" charset="0"/>
                          <a:cs typeface="Times New Roman" panose="02020603050405020304" pitchFamily="18" charset="0"/>
                        </a:rPr>
                        <a:t>18.</a:t>
                      </a:r>
                    </a:p>
                  </a:txBody>
                  <a:tcPr/>
                </a:tc>
                <a:tc>
                  <a:txBody>
                    <a:bodyPr/>
                    <a:lstStyle/>
                    <a:p>
                      <a:pPr algn="just"/>
                      <a:r>
                        <a:rPr lang="en-US" dirty="0">
                          <a:latin typeface="Times New Roman" panose="02020603050405020304" pitchFamily="18" charset="0"/>
                          <a:cs typeface="Times New Roman" panose="02020603050405020304" pitchFamily="18" charset="0"/>
                        </a:rPr>
                        <a:t>Hybrid and Attention-Based Approaches for Classifying Parkinson’s Disease Using Machine Learning and Deep Learning Techniques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 Shruthi, Subramanian K. M. &amp; Md. Ateeq Ur Rahman, (2025)</a:t>
                      </a: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CNN + LSTM + Attention</a:t>
                      </a:r>
                    </a:p>
                  </a:txBody>
                  <a:tcPr/>
                </a:tc>
                <a:tc>
                  <a:txBody>
                    <a:bodyPr/>
                    <a:lstStyle/>
                    <a:p>
                      <a:pPr algn="just"/>
                      <a:r>
                        <a:rPr lang="en-IN" dirty="0">
                          <a:latin typeface="Times New Roman" panose="02020603050405020304" pitchFamily="18" charset="0"/>
                          <a:cs typeface="Times New Roman" panose="02020603050405020304" pitchFamily="18" charset="0"/>
                        </a:rPr>
                        <a:t>Mainly speech-based model</a:t>
                      </a:r>
                    </a:p>
                  </a:txBody>
                  <a:tcPr/>
                </a:tc>
                <a:extLst>
                  <a:ext uri="{0D108BD9-81ED-4DB2-BD59-A6C34878D82A}">
                    <a16:rowId xmlns:a16="http://schemas.microsoft.com/office/drawing/2014/main" val="2956490140"/>
                  </a:ext>
                </a:extLst>
              </a:tr>
            </a:tbl>
          </a:graphicData>
        </a:graphic>
      </p:graphicFrame>
    </p:spTree>
    <p:extLst>
      <p:ext uri="{BB962C8B-B14F-4D97-AF65-F5344CB8AC3E}">
        <p14:creationId xmlns:p14="http://schemas.microsoft.com/office/powerpoint/2010/main" val="1766638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790CC-29EB-81E6-A9EE-8DEA79F5E00A}"/>
              </a:ext>
            </a:extLst>
          </p:cNvPr>
          <p:cNvSpPr>
            <a:spLocks noGrp="1"/>
          </p:cNvSpPr>
          <p:nvPr>
            <p:ph type="title"/>
          </p:nvPr>
        </p:nvSpPr>
        <p:spPr>
          <a:xfrm>
            <a:off x="1030316" y="0"/>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IN" sz="4000" b="1" dirty="0"/>
          </a:p>
        </p:txBody>
      </p:sp>
      <p:graphicFrame>
        <p:nvGraphicFramePr>
          <p:cNvPr id="4" name="Content Placeholder 3">
            <a:extLst>
              <a:ext uri="{FF2B5EF4-FFF2-40B4-BE49-F238E27FC236}">
                <a16:creationId xmlns:a16="http://schemas.microsoft.com/office/drawing/2014/main" id="{060276E4-FD44-8EDC-FEF5-4A9535497007}"/>
              </a:ext>
            </a:extLst>
          </p:cNvPr>
          <p:cNvGraphicFramePr>
            <a:graphicFrameLocks noGrp="1"/>
          </p:cNvGraphicFramePr>
          <p:nvPr>
            <p:ph sz="quarter" idx="13"/>
            <p:extLst>
              <p:ext uri="{D42A27DB-BD31-4B8C-83A1-F6EECF244321}">
                <p14:modId xmlns:p14="http://schemas.microsoft.com/office/powerpoint/2010/main" val="3059809034"/>
              </p:ext>
            </p:extLst>
          </p:nvPr>
        </p:nvGraphicFramePr>
        <p:xfrm>
          <a:off x="943584" y="1410222"/>
          <a:ext cx="10451183" cy="4889295"/>
        </p:xfrm>
        <a:graphic>
          <a:graphicData uri="http://schemas.openxmlformats.org/drawingml/2006/table">
            <a:tbl>
              <a:tblPr firstRow="1" bandRow="1">
                <a:tableStyleId>{7DF18680-E054-41AD-8BC1-D1AEF772440D}</a:tableStyleId>
              </a:tblPr>
              <a:tblGrid>
                <a:gridCol w="875263">
                  <a:extLst>
                    <a:ext uri="{9D8B030D-6E8A-4147-A177-3AD203B41FA5}">
                      <a16:colId xmlns:a16="http://schemas.microsoft.com/office/drawing/2014/main" val="2975536282"/>
                    </a:ext>
                  </a:extLst>
                </a:gridCol>
                <a:gridCol w="2981122">
                  <a:extLst>
                    <a:ext uri="{9D8B030D-6E8A-4147-A177-3AD203B41FA5}">
                      <a16:colId xmlns:a16="http://schemas.microsoft.com/office/drawing/2014/main" val="1787880260"/>
                    </a:ext>
                  </a:extLst>
                </a:gridCol>
                <a:gridCol w="2198266">
                  <a:extLst>
                    <a:ext uri="{9D8B030D-6E8A-4147-A177-3AD203B41FA5}">
                      <a16:colId xmlns:a16="http://schemas.microsoft.com/office/drawing/2014/main" val="1110786941"/>
                    </a:ext>
                  </a:extLst>
                </a:gridCol>
                <a:gridCol w="2198266">
                  <a:extLst>
                    <a:ext uri="{9D8B030D-6E8A-4147-A177-3AD203B41FA5}">
                      <a16:colId xmlns:a16="http://schemas.microsoft.com/office/drawing/2014/main" val="1219890770"/>
                    </a:ext>
                  </a:extLst>
                </a:gridCol>
                <a:gridCol w="2198266">
                  <a:extLst>
                    <a:ext uri="{9D8B030D-6E8A-4147-A177-3AD203B41FA5}">
                      <a16:colId xmlns:a16="http://schemas.microsoft.com/office/drawing/2014/main" val="2509341197"/>
                    </a:ext>
                  </a:extLst>
                </a:gridCol>
              </a:tblGrid>
              <a:tr h="583599">
                <a:tc>
                  <a:txBody>
                    <a:bodyPr/>
                    <a:lstStyle/>
                    <a:p>
                      <a:pPr algn="ctr"/>
                      <a:r>
                        <a:rPr lang="en-IN"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Paper Title</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Author(s)</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Technique Used</a:t>
                      </a:r>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Research Gap</a:t>
                      </a: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30091465"/>
                  </a:ext>
                </a:extLst>
              </a:tr>
              <a:tr h="2051831">
                <a:tc>
                  <a:txBody>
                    <a:bodyPr/>
                    <a:lstStyle/>
                    <a:p>
                      <a:pPr algn="ctr"/>
                      <a:r>
                        <a:rPr lang="en-IN" dirty="0">
                          <a:latin typeface="Times New Roman" panose="02020603050405020304" pitchFamily="18" charset="0"/>
                          <a:cs typeface="Times New Roman" panose="02020603050405020304" pitchFamily="18" charset="0"/>
                        </a:rPr>
                        <a:t>19.</a:t>
                      </a:r>
                    </a:p>
                  </a:txBody>
                  <a:tcPr/>
                </a:tc>
                <a:tc>
                  <a:txBody>
                    <a:bodyPr/>
                    <a:lstStyle/>
                    <a:p>
                      <a:pPr algn="just"/>
                      <a:r>
                        <a:rPr lang="en-US" dirty="0">
                          <a:latin typeface="Times New Roman" panose="02020603050405020304" pitchFamily="18" charset="0"/>
                          <a:cs typeface="Times New Roman" panose="02020603050405020304" pitchFamily="18" charset="0"/>
                        </a:rPr>
                        <a:t>Design of an Optimized Feature Driven Severity Stage Classifier for Parkinson’s Disease Prediction Using Deep Learning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i-FI" dirty="0">
                          <a:latin typeface="Times New Roman" panose="02020603050405020304" pitchFamily="18" charset="0"/>
                          <a:cs typeface="Times New Roman" panose="02020603050405020304" pitchFamily="18" charset="0"/>
                        </a:rPr>
                        <a:t>K. Shyamala &amp; T. M. Navamani, (2025)</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Deep Neural Network</a:t>
                      </a:r>
                    </a:p>
                  </a:txBody>
                  <a:tcPr/>
                </a:tc>
                <a:tc>
                  <a:txBody>
                    <a:bodyPr/>
                    <a:lstStyle/>
                    <a:p>
                      <a:pPr algn="just"/>
                      <a:r>
                        <a:rPr lang="en-IN" dirty="0">
                          <a:latin typeface="Times New Roman" panose="02020603050405020304" pitchFamily="18" charset="0"/>
                          <a:cs typeface="Times New Roman" panose="02020603050405020304" pitchFamily="18" charset="0"/>
                        </a:rPr>
                        <a:t>Lacks unified multimodal fusion</a:t>
                      </a:r>
                    </a:p>
                  </a:txBody>
                  <a:tcPr/>
                </a:tc>
                <a:extLst>
                  <a:ext uri="{0D108BD9-81ED-4DB2-BD59-A6C34878D82A}">
                    <a16:rowId xmlns:a16="http://schemas.microsoft.com/office/drawing/2014/main" val="3638424222"/>
                  </a:ext>
                </a:extLst>
              </a:tr>
              <a:tr h="2136424">
                <a:tc>
                  <a:txBody>
                    <a:bodyPr/>
                    <a:lstStyle/>
                    <a:p>
                      <a:pPr algn="ctr"/>
                      <a:r>
                        <a:rPr lang="en-IN" dirty="0">
                          <a:latin typeface="Times New Roman" panose="02020603050405020304" pitchFamily="18" charset="0"/>
                          <a:cs typeface="Times New Roman" panose="02020603050405020304" pitchFamily="18" charset="0"/>
                        </a:rPr>
                        <a:t>20.</a:t>
                      </a:r>
                    </a:p>
                  </a:txBody>
                  <a:tcPr/>
                </a:tc>
                <a:tc>
                  <a:txBody>
                    <a:bodyPr/>
                    <a:lstStyle/>
                    <a:p>
                      <a:pPr algn="just"/>
                      <a:r>
                        <a:rPr lang="en-US" dirty="0">
                          <a:latin typeface="Times New Roman" panose="02020603050405020304" pitchFamily="18" charset="0"/>
                          <a:cs typeface="Times New Roman" panose="02020603050405020304" pitchFamily="18" charset="0"/>
                        </a:rPr>
                        <a:t>A Deep Learning Framework for Joint Prediction of Parkinson’s Disease Progression Subtype and MDS-UPDRS Scores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pt-BR" dirty="0">
                          <a:latin typeface="Times New Roman" panose="02020603050405020304" pitchFamily="18" charset="0"/>
                          <a:cs typeface="Times New Roman" panose="02020603050405020304" pitchFamily="18" charset="0"/>
                        </a:rPr>
                        <a:t>Vasiliki Rizou, Nikos Grammalidis, Petros Daras &amp; Kosmas Dimitropoulos, (2025)</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Transformer + Multitask Learning</a:t>
                      </a:r>
                    </a:p>
                  </a:txBody>
                  <a:tcPr/>
                </a:tc>
                <a:tc>
                  <a:txBody>
                    <a:bodyPr/>
                    <a:lstStyle/>
                    <a:p>
                      <a:pPr algn="just"/>
                      <a:r>
                        <a:rPr lang="en-US" dirty="0">
                          <a:latin typeface="Times New Roman" panose="02020603050405020304" pitchFamily="18" charset="0"/>
                          <a:cs typeface="Times New Roman" panose="02020603050405020304" pitchFamily="18" charset="0"/>
                        </a:rPr>
                        <a:t>Focused on progression subtype, not early multimodal motor signals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8319449"/>
                  </a:ext>
                </a:extLst>
              </a:tr>
            </a:tbl>
          </a:graphicData>
        </a:graphic>
      </p:graphicFrame>
    </p:spTree>
    <p:extLst>
      <p:ext uri="{BB962C8B-B14F-4D97-AF65-F5344CB8AC3E}">
        <p14:creationId xmlns:p14="http://schemas.microsoft.com/office/powerpoint/2010/main" val="2716009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EE159-92E4-FFA3-817B-540698BF1D8C}"/>
              </a:ext>
            </a:extLst>
          </p:cNvPr>
          <p:cNvSpPr>
            <a:spLocks noGrp="1"/>
          </p:cNvSpPr>
          <p:nvPr>
            <p:ph type="title"/>
          </p:nvPr>
        </p:nvSpPr>
        <p:spPr>
          <a:xfrm>
            <a:off x="913770" y="-400553"/>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Existing vs Proposed System</a:t>
            </a:r>
            <a:endParaRPr lang="en-IN" sz="4000" b="1" dirty="0"/>
          </a:p>
        </p:txBody>
      </p:sp>
      <p:graphicFrame>
        <p:nvGraphicFramePr>
          <p:cNvPr id="6" name="Content Placeholder 5">
            <a:extLst>
              <a:ext uri="{FF2B5EF4-FFF2-40B4-BE49-F238E27FC236}">
                <a16:creationId xmlns:a16="http://schemas.microsoft.com/office/drawing/2014/main" id="{22368AF2-4559-BA97-6699-D48D1A8BE65C}"/>
              </a:ext>
            </a:extLst>
          </p:cNvPr>
          <p:cNvGraphicFramePr>
            <a:graphicFrameLocks noGrp="1"/>
          </p:cNvGraphicFramePr>
          <p:nvPr>
            <p:ph sz="quarter" idx="13"/>
            <p:extLst>
              <p:ext uri="{D42A27DB-BD31-4B8C-83A1-F6EECF244321}">
                <p14:modId xmlns:p14="http://schemas.microsoft.com/office/powerpoint/2010/main" val="3527273327"/>
              </p:ext>
            </p:extLst>
          </p:nvPr>
        </p:nvGraphicFramePr>
        <p:xfrm>
          <a:off x="201164" y="813346"/>
          <a:ext cx="11789665" cy="5934926"/>
        </p:xfrm>
        <a:graphic>
          <a:graphicData uri="http://schemas.openxmlformats.org/drawingml/2006/table">
            <a:tbl>
              <a:tblPr firstRow="1" bandRow="1">
                <a:tableStyleId>{5940675A-B579-460E-94D1-54222C63F5DA}</a:tableStyleId>
              </a:tblPr>
              <a:tblGrid>
                <a:gridCol w="2223381">
                  <a:extLst>
                    <a:ext uri="{9D8B030D-6E8A-4147-A177-3AD203B41FA5}">
                      <a16:colId xmlns:a16="http://schemas.microsoft.com/office/drawing/2014/main" val="555615564"/>
                    </a:ext>
                  </a:extLst>
                </a:gridCol>
                <a:gridCol w="2563091">
                  <a:extLst>
                    <a:ext uri="{9D8B030D-6E8A-4147-A177-3AD203B41FA5}">
                      <a16:colId xmlns:a16="http://schemas.microsoft.com/office/drawing/2014/main" val="3782246248"/>
                    </a:ext>
                  </a:extLst>
                </a:gridCol>
                <a:gridCol w="2287327">
                  <a:extLst>
                    <a:ext uri="{9D8B030D-6E8A-4147-A177-3AD203B41FA5}">
                      <a16:colId xmlns:a16="http://schemas.microsoft.com/office/drawing/2014/main" val="3973842990"/>
                    </a:ext>
                  </a:extLst>
                </a:gridCol>
                <a:gridCol w="2357933">
                  <a:extLst>
                    <a:ext uri="{9D8B030D-6E8A-4147-A177-3AD203B41FA5}">
                      <a16:colId xmlns:a16="http://schemas.microsoft.com/office/drawing/2014/main" val="3457755941"/>
                    </a:ext>
                  </a:extLst>
                </a:gridCol>
                <a:gridCol w="2357933">
                  <a:extLst>
                    <a:ext uri="{9D8B030D-6E8A-4147-A177-3AD203B41FA5}">
                      <a16:colId xmlns:a16="http://schemas.microsoft.com/office/drawing/2014/main" val="1216179628"/>
                    </a:ext>
                  </a:extLst>
                </a:gridCol>
              </a:tblGrid>
              <a:tr h="590614">
                <a:tc>
                  <a:txBody>
                    <a:bodyPr/>
                    <a:lstStyle/>
                    <a:p>
                      <a:pPr algn="ctr"/>
                      <a:r>
                        <a:rPr lang="en-IN" sz="2000" b="1" dirty="0">
                          <a:latin typeface="Times New Roman" panose="02020603050405020304" pitchFamily="18" charset="0"/>
                          <a:cs typeface="Times New Roman" panose="02020603050405020304" pitchFamily="18" charset="0"/>
                        </a:rPr>
                        <a:t>Aspect</a:t>
                      </a:r>
                    </a:p>
                  </a:txBody>
                  <a:tcPr/>
                </a:tc>
                <a:tc>
                  <a:txBody>
                    <a:bodyPr/>
                    <a:lstStyle/>
                    <a:p>
                      <a:pPr algn="ctr"/>
                      <a:r>
                        <a:rPr lang="en-IN" sz="2000" b="1" dirty="0">
                          <a:latin typeface="Times New Roman" panose="02020603050405020304" pitchFamily="18" charset="0"/>
                          <a:cs typeface="Times New Roman" panose="02020603050405020304" pitchFamily="18" charset="0"/>
                        </a:rPr>
                        <a:t>Existing System</a:t>
                      </a:r>
                    </a:p>
                  </a:txBody>
                  <a:tcPr/>
                </a:tc>
                <a:tc>
                  <a:txBody>
                    <a:bodyPr/>
                    <a:lstStyle/>
                    <a:p>
                      <a:pPr algn="ctr"/>
                      <a:r>
                        <a:rPr lang="en-IN" sz="2000" b="1" dirty="0">
                          <a:latin typeface="Times New Roman" panose="02020603050405020304" pitchFamily="18" charset="0"/>
                          <a:cs typeface="Times New Roman" panose="02020603050405020304" pitchFamily="18" charset="0"/>
                        </a:rPr>
                        <a:t>Drawbacks</a:t>
                      </a:r>
                    </a:p>
                  </a:txBody>
                  <a:tcPr/>
                </a:tc>
                <a:tc>
                  <a:txBody>
                    <a:bodyPr/>
                    <a:lstStyle/>
                    <a:p>
                      <a:pPr algn="ctr"/>
                      <a:r>
                        <a:rPr lang="en-IN" sz="2000" b="1" dirty="0">
                          <a:latin typeface="Times New Roman" panose="02020603050405020304" pitchFamily="18" charset="0"/>
                          <a:cs typeface="Times New Roman" panose="02020603050405020304" pitchFamily="18" charset="0"/>
                        </a:rPr>
                        <a:t>Proposed System</a:t>
                      </a:r>
                    </a:p>
                  </a:txBody>
                  <a:tcPr/>
                </a:tc>
                <a:tc>
                  <a:txBody>
                    <a:bodyPr/>
                    <a:lstStyle/>
                    <a:p>
                      <a:pPr algn="ctr"/>
                      <a:r>
                        <a:rPr lang="en-IN" sz="2000" b="1" dirty="0">
                          <a:latin typeface="Times New Roman" panose="02020603050405020304" pitchFamily="18" charset="0"/>
                          <a:cs typeface="Times New Roman" panose="02020603050405020304" pitchFamily="18" charset="0"/>
                        </a:rPr>
                        <a:t>Advantages</a:t>
                      </a:r>
                    </a:p>
                  </a:txBody>
                  <a:tcPr/>
                </a:tc>
                <a:extLst>
                  <a:ext uri="{0D108BD9-81ED-4DB2-BD59-A6C34878D82A}">
                    <a16:rowId xmlns:a16="http://schemas.microsoft.com/office/drawing/2014/main" val="3921394473"/>
                  </a:ext>
                </a:extLst>
              </a:tr>
              <a:tr h="1008418">
                <a:tc>
                  <a:txBody>
                    <a:bodyPr/>
                    <a:lstStyle/>
                    <a:p>
                      <a:pPr algn="just"/>
                      <a:r>
                        <a:rPr lang="en-IN" sz="2000" dirty="0">
                          <a:latin typeface="Times New Roman" panose="02020603050405020304" pitchFamily="18" charset="0"/>
                          <a:cs typeface="Times New Roman" panose="02020603050405020304" pitchFamily="18" charset="0"/>
                        </a:rPr>
                        <a:t>Data Usage</a:t>
                      </a:r>
                    </a:p>
                  </a:txBody>
                  <a:tcPr/>
                </a:tc>
                <a:tc>
                  <a:txBody>
                    <a:bodyPr/>
                    <a:lstStyle/>
                    <a:p>
                      <a:pPr algn="just"/>
                      <a:r>
                        <a:rPr lang="en-US" sz="2000" dirty="0">
                          <a:latin typeface="Times New Roman" panose="02020603050405020304" pitchFamily="18" charset="0"/>
                          <a:cs typeface="Times New Roman" panose="02020603050405020304" pitchFamily="18" charset="0"/>
                        </a:rPr>
                        <a:t>Uses single modality (speech or handwriting or gait)</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IN" sz="2000" dirty="0">
                          <a:latin typeface="Times New Roman" panose="02020603050405020304" pitchFamily="18" charset="0"/>
                          <a:cs typeface="Times New Roman" panose="02020603050405020304" pitchFamily="18" charset="0"/>
                        </a:rPr>
                        <a:t>Incomplete disease representation</a:t>
                      </a:r>
                    </a:p>
                  </a:txBody>
                  <a:tcPr/>
                </a:tc>
                <a:tc>
                  <a:txBody>
                    <a:bodyPr/>
                    <a:lstStyle/>
                    <a:p>
                      <a:pPr algn="just"/>
                      <a:r>
                        <a:rPr lang="en-US" sz="2000" dirty="0">
                          <a:latin typeface="Times New Roman" panose="02020603050405020304" pitchFamily="18" charset="0"/>
                          <a:cs typeface="Times New Roman" panose="02020603050405020304" pitchFamily="18" charset="0"/>
                        </a:rPr>
                        <a:t>Uses multimodal data (speech + handwriting + gait)</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Captures full multi-dimensional disease behavior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9039754"/>
                  </a:ext>
                </a:extLst>
              </a:tr>
              <a:tr h="1008418">
                <a:tc>
                  <a:txBody>
                    <a:bodyPr/>
                    <a:lstStyle/>
                    <a:p>
                      <a:pPr algn="just"/>
                      <a:r>
                        <a:rPr lang="en-IN" sz="2000" dirty="0">
                          <a:latin typeface="Times New Roman" panose="02020603050405020304" pitchFamily="18" charset="0"/>
                          <a:cs typeface="Times New Roman" panose="02020603050405020304" pitchFamily="18" charset="0"/>
                        </a:rPr>
                        <a:t>Feature Extraction</a:t>
                      </a:r>
                    </a:p>
                  </a:txBody>
                  <a:tcPr/>
                </a:tc>
                <a:tc>
                  <a:txBody>
                    <a:bodyPr/>
                    <a:lstStyle/>
                    <a:p>
                      <a:pPr algn="just"/>
                      <a:r>
                        <a:rPr lang="en-IN" sz="2000" dirty="0">
                          <a:latin typeface="Times New Roman" panose="02020603050405020304" pitchFamily="18" charset="0"/>
                          <a:cs typeface="Times New Roman" panose="02020603050405020304" pitchFamily="18" charset="0"/>
                        </a:rPr>
                        <a:t>Manual feature engineering (ML-based)</a:t>
                      </a:r>
                    </a:p>
                  </a:txBody>
                  <a:tcPr/>
                </a:tc>
                <a:tc>
                  <a:txBody>
                    <a:bodyPr/>
                    <a:lstStyle/>
                    <a:p>
                      <a:pPr algn="just"/>
                      <a:r>
                        <a:rPr lang="en-US" sz="2000" dirty="0">
                          <a:latin typeface="Times New Roman" panose="02020603050405020304" pitchFamily="18" charset="0"/>
                          <a:cs typeface="Times New Roman" panose="02020603050405020304" pitchFamily="18" charset="0"/>
                        </a:rPr>
                        <a:t>May miss subtle early-stage patterns</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Automatic feature extraction using CNN</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Detects complex and subtle patterns effectively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6376174"/>
                  </a:ext>
                </a:extLst>
              </a:tr>
              <a:tr h="1008418">
                <a:tc>
                  <a:txBody>
                    <a:bodyPr/>
                    <a:lstStyle/>
                    <a:p>
                      <a:pPr algn="just"/>
                      <a:r>
                        <a:rPr lang="en-IN" sz="2000" dirty="0">
                          <a:latin typeface="Times New Roman" panose="02020603050405020304" pitchFamily="18" charset="0"/>
                          <a:cs typeface="Times New Roman" panose="02020603050405020304" pitchFamily="18" charset="0"/>
                        </a:rPr>
                        <a:t>Model Intelligence</a:t>
                      </a:r>
                    </a:p>
                  </a:txBody>
                  <a:tcPr/>
                </a:tc>
                <a:tc>
                  <a:txBody>
                    <a:bodyPr/>
                    <a:lstStyle/>
                    <a:p>
                      <a:pPr algn="just"/>
                      <a:r>
                        <a:rPr lang="en-IN" sz="2000" dirty="0">
                          <a:latin typeface="Times New Roman" panose="02020603050405020304" pitchFamily="18" charset="0"/>
                          <a:cs typeface="Times New Roman" panose="02020603050405020304" pitchFamily="18" charset="0"/>
                        </a:rPr>
                        <a:t>Basic ML classifiers</a:t>
                      </a:r>
                    </a:p>
                  </a:txBody>
                  <a:tcPr/>
                </a:tc>
                <a:tc>
                  <a:txBody>
                    <a:bodyPr/>
                    <a:lstStyle/>
                    <a:p>
                      <a:pPr algn="just"/>
                      <a:r>
                        <a:rPr lang="en-US" sz="2000" dirty="0">
                          <a:latin typeface="Times New Roman" panose="02020603050405020304" pitchFamily="18" charset="0"/>
                          <a:cs typeface="Times New Roman" panose="02020603050405020304" pitchFamily="18" charset="0"/>
                        </a:rPr>
                        <a:t>Limited accuracy and poor generalization</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Deep learning with attention-based fusion</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Improved accuracy and better generalization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53067271"/>
                  </a:ext>
                </a:extLst>
              </a:tr>
              <a:tr h="1008418">
                <a:tc>
                  <a:txBody>
                    <a:bodyPr/>
                    <a:lstStyle/>
                    <a:p>
                      <a:pPr algn="just"/>
                      <a:r>
                        <a:rPr lang="en-IN" sz="2000" dirty="0">
                          <a:latin typeface="Times New Roman" panose="02020603050405020304" pitchFamily="18" charset="0"/>
                          <a:cs typeface="Times New Roman" panose="02020603050405020304" pitchFamily="18" charset="0"/>
                        </a:rPr>
                        <a:t>Interpretability</a:t>
                      </a:r>
                    </a:p>
                  </a:txBody>
                  <a:tcPr/>
                </a:tc>
                <a:tc>
                  <a:txBody>
                    <a:bodyPr/>
                    <a:lstStyle/>
                    <a:p>
                      <a:pPr algn="just"/>
                      <a:r>
                        <a:rPr lang="en-IN" sz="2000" dirty="0">
                          <a:latin typeface="Times New Roman" panose="02020603050405020304" pitchFamily="18" charset="0"/>
                          <a:cs typeface="Times New Roman" panose="02020603050405020304" pitchFamily="18" charset="0"/>
                        </a:rPr>
                        <a:t>Black-box predictions</a:t>
                      </a:r>
                    </a:p>
                  </a:txBody>
                  <a:tcPr/>
                </a:tc>
                <a:tc>
                  <a:txBody>
                    <a:bodyPr/>
                    <a:lstStyle/>
                    <a:p>
                      <a:pPr algn="just"/>
                      <a:r>
                        <a:rPr lang="en-IN" sz="2000" dirty="0">
                          <a:latin typeface="Times New Roman" panose="02020603050405020304" pitchFamily="18" charset="0"/>
                          <a:cs typeface="Times New Roman" panose="02020603050405020304" pitchFamily="18" charset="0"/>
                        </a:rPr>
                        <a:t>Low clinical trust</a:t>
                      </a:r>
                    </a:p>
                  </a:txBody>
                  <a:tcPr/>
                </a:tc>
                <a:tc>
                  <a:txBody>
                    <a:bodyPr/>
                    <a:lstStyle/>
                    <a:p>
                      <a:pPr algn="just"/>
                      <a:r>
                        <a:rPr lang="en-US" sz="2000" dirty="0">
                          <a:latin typeface="Times New Roman" panose="02020603050405020304" pitchFamily="18" charset="0"/>
                          <a:cs typeface="Times New Roman" panose="02020603050405020304" pitchFamily="18" charset="0"/>
                        </a:rPr>
                        <a:t>Grad-CAM + Attention visualization + Confidence score</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IN" sz="2000" dirty="0">
                          <a:latin typeface="Times New Roman" panose="02020603050405020304" pitchFamily="18" charset="0"/>
                          <a:cs typeface="Times New Roman" panose="02020603050405020304" pitchFamily="18" charset="0"/>
                        </a:rPr>
                        <a:t>Transparent and interpretable predictions</a:t>
                      </a:r>
                    </a:p>
                  </a:txBody>
                  <a:tcPr/>
                </a:tc>
                <a:extLst>
                  <a:ext uri="{0D108BD9-81ED-4DB2-BD59-A6C34878D82A}">
                    <a16:rowId xmlns:a16="http://schemas.microsoft.com/office/drawing/2014/main" val="1142448227"/>
                  </a:ext>
                </a:extLst>
              </a:tr>
              <a:tr h="1008418">
                <a:tc>
                  <a:txBody>
                    <a:bodyPr/>
                    <a:lstStyle/>
                    <a:p>
                      <a:pPr algn="just"/>
                      <a:r>
                        <a:rPr lang="en-IN" sz="2000" dirty="0">
                          <a:latin typeface="Times New Roman" panose="02020603050405020304" pitchFamily="18" charset="0"/>
                          <a:cs typeface="Times New Roman" panose="02020603050405020304" pitchFamily="18" charset="0"/>
                        </a:rPr>
                        <a:t>Deployment</a:t>
                      </a:r>
                    </a:p>
                  </a:txBody>
                  <a:tcPr/>
                </a:tc>
                <a:tc>
                  <a:txBody>
                    <a:bodyPr/>
                    <a:lstStyle/>
                    <a:p>
                      <a:pPr algn="just"/>
                      <a:r>
                        <a:rPr lang="en-IN" sz="2000" dirty="0">
                          <a:latin typeface="Times New Roman" panose="02020603050405020304" pitchFamily="18" charset="0"/>
                          <a:cs typeface="Times New Roman" panose="02020603050405020304" pitchFamily="18" charset="0"/>
                        </a:rPr>
                        <a:t>Offline research models</a:t>
                      </a:r>
                    </a:p>
                  </a:txBody>
                  <a:tcPr/>
                </a:tc>
                <a:tc>
                  <a:txBody>
                    <a:bodyPr/>
                    <a:lstStyle/>
                    <a:p>
                      <a:pPr algn="just"/>
                      <a:r>
                        <a:rPr lang="en-US" sz="2000" dirty="0">
                          <a:latin typeface="Times New Roman" panose="02020603050405020304" pitchFamily="18" charset="0"/>
                          <a:cs typeface="Times New Roman" panose="02020603050405020304" pitchFamily="18" charset="0"/>
                        </a:rPr>
                        <a:t>Not suitable for real-time use</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IN" sz="2000" dirty="0">
                          <a:latin typeface="Times New Roman" panose="02020603050405020304" pitchFamily="18" charset="0"/>
                          <a:cs typeface="Times New Roman" panose="02020603050405020304" pitchFamily="18" charset="0"/>
                        </a:rPr>
                        <a:t>Web-based system (React + Flask)</a:t>
                      </a:r>
                    </a:p>
                  </a:txBody>
                  <a:tcPr/>
                </a:tc>
                <a:tc>
                  <a:txBody>
                    <a:bodyPr/>
                    <a:lstStyle/>
                    <a:p>
                      <a:pPr algn="just"/>
                      <a:r>
                        <a:rPr lang="en-US" sz="2000" dirty="0">
                          <a:latin typeface="Times New Roman" panose="02020603050405020304" pitchFamily="18" charset="0"/>
                          <a:cs typeface="Times New Roman" panose="02020603050405020304" pitchFamily="18" charset="0"/>
                        </a:rPr>
                        <a:t>Real-time, scalable, remote healthcare support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1225399"/>
                  </a:ext>
                </a:extLst>
              </a:tr>
            </a:tbl>
          </a:graphicData>
        </a:graphic>
      </p:graphicFrame>
    </p:spTree>
    <p:extLst>
      <p:ext uri="{BB962C8B-B14F-4D97-AF65-F5344CB8AC3E}">
        <p14:creationId xmlns:p14="http://schemas.microsoft.com/office/powerpoint/2010/main" val="386622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7CD06-E327-A60C-1E12-613B38EF1C37}"/>
              </a:ext>
            </a:extLst>
          </p:cNvPr>
          <p:cNvSpPr>
            <a:spLocks noGrp="1"/>
          </p:cNvSpPr>
          <p:nvPr>
            <p:ph type="title"/>
          </p:nvPr>
        </p:nvSpPr>
        <p:spPr>
          <a:xfrm>
            <a:off x="913774" y="-186155"/>
            <a:ext cx="10364451" cy="1596177"/>
          </a:xfrm>
        </p:spPr>
        <p:txBody>
          <a:bodyPr>
            <a:normAutofit/>
          </a:bodyPr>
          <a:lstStyle/>
          <a:p>
            <a:pPr algn="ctr"/>
            <a:r>
              <a:rPr lang="en-IN" sz="4000" b="1" dirty="0">
                <a:latin typeface="Times New Roman" panose="02020603050405020304" pitchFamily="18" charset="0"/>
                <a:cs typeface="Times New Roman" panose="02020603050405020304" pitchFamily="18" charset="0"/>
              </a:rPr>
              <a:t>ARCHITECTURE DIAGRAM </a:t>
            </a:r>
            <a:endParaRPr lang="en-IN" sz="4000" b="1" dirty="0"/>
          </a:p>
        </p:txBody>
      </p:sp>
      <p:pic>
        <p:nvPicPr>
          <p:cNvPr id="9" name="Content Placeholder 8">
            <a:extLst>
              <a:ext uri="{FF2B5EF4-FFF2-40B4-BE49-F238E27FC236}">
                <a16:creationId xmlns:a16="http://schemas.microsoft.com/office/drawing/2014/main" id="{6C3DA208-CB0B-49D5-1D25-5710B51B2DC9}"/>
              </a:ext>
            </a:extLst>
          </p:cNvPr>
          <p:cNvPicPr>
            <a:picLocks noGrp="1" noChangeAspect="1"/>
          </p:cNvPicPr>
          <p:nvPr>
            <p:ph sz="quarter" idx="13"/>
          </p:nvPr>
        </p:nvPicPr>
        <p:blipFill>
          <a:blip r:embed="rId2"/>
          <a:stretch>
            <a:fillRect/>
          </a:stretch>
        </p:blipFill>
        <p:spPr>
          <a:xfrm>
            <a:off x="1" y="1011936"/>
            <a:ext cx="12192000" cy="5846063"/>
          </a:xfrm>
          <a:prstGeom prst="rect">
            <a:avLst/>
          </a:prstGeom>
        </p:spPr>
      </p:pic>
    </p:spTree>
    <p:extLst>
      <p:ext uri="{BB962C8B-B14F-4D97-AF65-F5344CB8AC3E}">
        <p14:creationId xmlns:p14="http://schemas.microsoft.com/office/powerpoint/2010/main" val="1301086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EBC0-7C43-F632-96B8-35AB5D121DCD}"/>
              </a:ext>
            </a:extLst>
          </p:cNvPr>
          <p:cNvSpPr>
            <a:spLocks noGrp="1"/>
          </p:cNvSpPr>
          <p:nvPr>
            <p:ph type="title"/>
          </p:nvPr>
        </p:nvSpPr>
        <p:spPr>
          <a:xfrm>
            <a:off x="762000" y="-161226"/>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METHODOLOGY</a:t>
            </a:r>
            <a:r>
              <a:rPr lang="en-IN" sz="4000" dirty="0">
                <a:latin typeface="Times New Roman" panose="02020603050405020304" pitchFamily="18" charset="0"/>
                <a:cs typeface="Times New Roman" panose="02020603050405020304" pitchFamily="18" charset="0"/>
              </a:rPr>
              <a:t> </a:t>
            </a:r>
            <a:endParaRPr lang="en-IN" sz="4000" dirty="0"/>
          </a:p>
        </p:txBody>
      </p:sp>
      <p:sp>
        <p:nvSpPr>
          <p:cNvPr id="3" name="Content Placeholder 2">
            <a:extLst>
              <a:ext uri="{FF2B5EF4-FFF2-40B4-BE49-F238E27FC236}">
                <a16:creationId xmlns:a16="http://schemas.microsoft.com/office/drawing/2014/main" id="{734C5C54-8C44-EC0F-1EDB-547C11973D80}"/>
              </a:ext>
            </a:extLst>
          </p:cNvPr>
          <p:cNvSpPr>
            <a:spLocks noGrp="1"/>
          </p:cNvSpPr>
          <p:nvPr>
            <p:ph sz="quarter" idx="13"/>
          </p:nvPr>
        </p:nvSpPr>
        <p:spPr>
          <a:xfrm>
            <a:off x="837886" y="953570"/>
            <a:ext cx="11073697" cy="5608320"/>
          </a:xfrm>
        </p:spPr>
        <p:txBody>
          <a:bodyPr>
            <a:normAutofit fontScale="92500" lnSpcReduction="10000"/>
          </a:bodyPr>
          <a:lstStyle/>
          <a:p>
            <a:pPr algn="just">
              <a:lnSpc>
                <a:spcPct val="110000"/>
              </a:lnSpc>
            </a:pPr>
            <a:r>
              <a:rPr lang="en-US" sz="2400" dirty="0">
                <a:latin typeface="Times New Roman" panose="02020603050405020304" pitchFamily="18" charset="0"/>
                <a:cs typeface="Times New Roman" panose="02020603050405020304" pitchFamily="18" charset="0"/>
              </a:rPr>
              <a:t>Multimodal signals such as gait, speech, and handwriting are collected from subjects using sensors and recording devices.</a:t>
            </a:r>
          </a:p>
          <a:p>
            <a:pPr algn="just">
              <a:lnSpc>
                <a:spcPct val="110000"/>
              </a:lnSpc>
            </a:pPr>
            <a:r>
              <a:rPr lang="en-US" sz="2400" dirty="0">
                <a:latin typeface="Times New Roman" panose="02020603050405020304" pitchFamily="18" charset="0"/>
                <a:cs typeface="Times New Roman" panose="02020603050405020304" pitchFamily="18" charset="0"/>
              </a:rPr>
              <a:t>Raw data is preprocessed by removing noise, normalizing values, and converting signals into suitable formats for model training.</a:t>
            </a:r>
          </a:p>
          <a:p>
            <a:pPr algn="just">
              <a:lnSpc>
                <a:spcPct val="110000"/>
              </a:lnSpc>
            </a:pPr>
            <a:r>
              <a:rPr lang="en-US" sz="2400" dirty="0">
                <a:latin typeface="Times New Roman" panose="02020603050405020304" pitchFamily="18" charset="0"/>
                <a:cs typeface="Times New Roman" panose="02020603050405020304" pitchFamily="18" charset="0"/>
              </a:rPr>
              <a:t>Separate CNN models automatically extract deep features from each modality to capture hidden motor and speech abnormalities.</a:t>
            </a:r>
          </a:p>
          <a:p>
            <a:pPr algn="just">
              <a:lnSpc>
                <a:spcPct val="110000"/>
              </a:lnSpc>
            </a:pPr>
            <a:r>
              <a:rPr lang="en-US" sz="2400" dirty="0">
                <a:latin typeface="Times New Roman" panose="02020603050405020304" pitchFamily="18" charset="0"/>
                <a:cs typeface="Times New Roman" panose="02020603050405020304" pitchFamily="18" charset="0"/>
              </a:rPr>
              <a:t>An attention-based fusion layer combines the features and assigns higher importance to more relevant modalities.</a:t>
            </a:r>
          </a:p>
          <a:p>
            <a:pPr algn="just">
              <a:lnSpc>
                <a:spcPct val="110000"/>
              </a:lnSpc>
            </a:pPr>
            <a:r>
              <a:rPr lang="en-US" sz="2400" dirty="0">
                <a:latin typeface="Times New Roman" panose="02020603050405020304" pitchFamily="18" charset="0"/>
                <a:cs typeface="Times New Roman" panose="02020603050405020304" pitchFamily="18" charset="0"/>
              </a:rPr>
              <a:t>A dense classification network analyzes the fused features and predicts the risk or severity of Parkinson’s disease.</a:t>
            </a:r>
          </a:p>
          <a:p>
            <a:pPr algn="just">
              <a:lnSpc>
                <a:spcPct val="110000"/>
              </a:lnSpc>
            </a:pPr>
            <a:r>
              <a:rPr lang="en-US" sz="2400" dirty="0">
                <a:latin typeface="Times New Roman" panose="02020603050405020304" pitchFamily="18" charset="0"/>
                <a:cs typeface="Times New Roman" panose="02020603050405020304" pitchFamily="18" charset="0"/>
              </a:rPr>
              <a:t>Explainable AI techniques generate feature importance maps to show how each modality influences the prediction.</a:t>
            </a:r>
          </a:p>
          <a:p>
            <a:pPr algn="just">
              <a:lnSpc>
                <a:spcPct val="110000"/>
              </a:lnSpc>
            </a:pPr>
            <a:r>
              <a:rPr lang="en-US" sz="2400" dirty="0">
                <a:latin typeface="Times New Roman" panose="02020603050405020304" pitchFamily="18" charset="0"/>
                <a:cs typeface="Times New Roman" panose="02020603050405020304" pitchFamily="18" charset="0"/>
              </a:rPr>
              <a:t>The system outputs early prediction results with visual interpretation for clinical decision support.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1218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2266-F6FA-9891-DCF8-5B51B92913E7}"/>
              </a:ext>
            </a:extLst>
          </p:cNvPr>
          <p:cNvSpPr>
            <a:spLocks noGrp="1"/>
          </p:cNvSpPr>
          <p:nvPr>
            <p:ph type="title"/>
          </p:nvPr>
        </p:nvSpPr>
        <p:spPr>
          <a:xfrm>
            <a:off x="837887" y="-258762"/>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ALGORITHMS USED</a:t>
            </a:r>
            <a:endParaRPr lang="en-IN" sz="4000" b="1" dirty="0"/>
          </a:p>
        </p:txBody>
      </p:sp>
      <p:sp>
        <p:nvSpPr>
          <p:cNvPr id="3" name="Content Placeholder 2">
            <a:extLst>
              <a:ext uri="{FF2B5EF4-FFF2-40B4-BE49-F238E27FC236}">
                <a16:creationId xmlns:a16="http://schemas.microsoft.com/office/drawing/2014/main" id="{2755C9D0-CB25-A798-5590-E57F70B96A67}"/>
              </a:ext>
            </a:extLst>
          </p:cNvPr>
          <p:cNvSpPr>
            <a:spLocks noGrp="1"/>
          </p:cNvSpPr>
          <p:nvPr>
            <p:ph sz="quarter" idx="13"/>
          </p:nvPr>
        </p:nvSpPr>
        <p:spPr>
          <a:xfrm>
            <a:off x="680288" y="903635"/>
            <a:ext cx="11058144" cy="5876544"/>
          </a:xfrm>
        </p:spPr>
        <p:txBody>
          <a:bodyPr>
            <a:normAutofit lnSpcReduction="10000"/>
          </a:bodyPr>
          <a:lstStyle/>
          <a:p>
            <a:pPr algn="just">
              <a:lnSpc>
                <a:spcPct val="100000"/>
              </a:lnSpc>
            </a:pPr>
            <a:r>
              <a:rPr lang="en-IN" sz="2400" b="1" dirty="0">
                <a:latin typeface="Times New Roman" panose="02020603050405020304" pitchFamily="18" charset="0"/>
                <a:cs typeface="Times New Roman" panose="02020603050405020304" pitchFamily="18" charset="0"/>
              </a:rPr>
              <a:t> Convolutional Neural Network (CNN):</a:t>
            </a:r>
          </a:p>
          <a:p>
            <a:pPr marL="0" indent="0" algn="just">
              <a:lnSpc>
                <a:spcPct val="100000"/>
              </a:lnSpc>
              <a:buNone/>
            </a:pPr>
            <a:r>
              <a:rPr lang="en-IN" sz="2400" dirty="0">
                <a:latin typeface="Times New Roman" panose="02020603050405020304" pitchFamily="18" charset="0"/>
                <a:cs typeface="Times New Roman" panose="02020603050405020304" pitchFamily="18" charset="0"/>
              </a:rPr>
              <a:t>	CNN extracts features from handwriting, speech, and gait data. It detects subtle Parkinson’s patterns like tremor, voice variation, and gait irregularities. Batch Normalization improves training stability, Dropout reduces overfitting, and Global Average Pooling reduces model complexity.</a:t>
            </a:r>
          </a:p>
          <a:p>
            <a:pPr algn="just">
              <a:lnSpc>
                <a:spcPct val="100000"/>
              </a:lnSpc>
            </a:pPr>
            <a:r>
              <a:rPr lang="en-IN" sz="2400" b="1" dirty="0">
                <a:latin typeface="Times New Roman" panose="02020603050405020304" pitchFamily="18" charset="0"/>
                <a:cs typeface="Times New Roman" panose="02020603050405020304" pitchFamily="18" charset="0"/>
              </a:rPr>
              <a:t>Attention Mechanism:</a:t>
            </a:r>
          </a:p>
          <a:p>
            <a:pPr marL="0" indent="0" algn="just">
              <a:lnSpc>
                <a:spcPct val="100000"/>
              </a:lnSpc>
              <a:buNone/>
            </a:pPr>
            <a:r>
              <a:rPr lang="en-IN" sz="2400" dirty="0">
                <a:latin typeface="Times New Roman" panose="02020603050405020304" pitchFamily="18" charset="0"/>
                <a:cs typeface="Times New Roman" panose="02020603050405020304" pitchFamily="18" charset="0"/>
              </a:rPr>
              <a:t>	The attention layer selects the most important modality for each patient. It helps the model focus on dominant symptoms and improves prediction accuracy.</a:t>
            </a:r>
          </a:p>
          <a:p>
            <a:pPr algn="just">
              <a:lnSpc>
                <a:spcPct val="100000"/>
              </a:lnSpc>
            </a:pPr>
            <a:r>
              <a:rPr lang="en-IN" sz="2400" b="1" dirty="0">
                <a:latin typeface="Times New Roman" panose="02020603050405020304" pitchFamily="18" charset="0"/>
                <a:cs typeface="Times New Roman" panose="02020603050405020304" pitchFamily="18" charset="0"/>
              </a:rPr>
              <a:t> Dense Classifier:</a:t>
            </a:r>
          </a:p>
          <a:p>
            <a:pPr marL="0" indent="0" algn="just">
              <a:lnSpc>
                <a:spcPct val="100000"/>
              </a:lnSpc>
              <a:buNone/>
            </a:pPr>
            <a:r>
              <a:rPr lang="en-IN" sz="2400" dirty="0">
                <a:latin typeface="Times New Roman" panose="02020603050405020304" pitchFamily="18" charset="0"/>
                <a:cs typeface="Times New Roman" panose="02020603050405020304" pitchFamily="18" charset="0"/>
              </a:rPr>
              <a:t>	Dense layers combine all learned features into a final representation. They generate the prediction (Parkinson’s / Healthy) with a confidence score.</a:t>
            </a:r>
          </a:p>
          <a:p>
            <a:pPr algn="just">
              <a:lnSpc>
                <a:spcPct val="10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Grad-CAM Visualization:</a:t>
            </a:r>
          </a:p>
          <a:p>
            <a:pPr marL="0" indent="0" algn="just">
              <a:lnSpc>
                <a:spcPct val="100000"/>
              </a:lnSpc>
              <a:buNone/>
            </a:pPr>
            <a:r>
              <a:rPr lang="en-IN" sz="2400" dirty="0">
                <a:latin typeface="Times New Roman" panose="02020603050405020304" pitchFamily="18" charset="0"/>
                <a:cs typeface="Times New Roman" panose="02020603050405020304" pitchFamily="18" charset="0"/>
              </a:rPr>
              <a:t>	Grad-CAM highlights important regions in handwriting or gait data. It explains why the model made a prediction and improves transparency.</a:t>
            </a:r>
          </a:p>
        </p:txBody>
      </p:sp>
    </p:spTree>
    <p:extLst>
      <p:ext uri="{BB962C8B-B14F-4D97-AF65-F5344CB8AC3E}">
        <p14:creationId xmlns:p14="http://schemas.microsoft.com/office/powerpoint/2010/main" val="292696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7C11F-C817-D0BC-1D12-EE8D5088F6DB}"/>
              </a:ext>
            </a:extLst>
          </p:cNvPr>
          <p:cNvSpPr>
            <a:spLocks noGrp="1"/>
          </p:cNvSpPr>
          <p:nvPr>
            <p:ph type="title"/>
          </p:nvPr>
        </p:nvSpPr>
        <p:spPr>
          <a:xfrm>
            <a:off x="913774" y="-258762"/>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Tools and Technologies</a:t>
            </a:r>
            <a:endParaRPr lang="en-IN" sz="4000" b="1" dirty="0"/>
          </a:p>
        </p:txBody>
      </p:sp>
      <p:graphicFrame>
        <p:nvGraphicFramePr>
          <p:cNvPr id="5" name="Content Placeholder 4">
            <a:extLst>
              <a:ext uri="{FF2B5EF4-FFF2-40B4-BE49-F238E27FC236}">
                <a16:creationId xmlns:a16="http://schemas.microsoft.com/office/drawing/2014/main" id="{0D0A5B6B-4BA4-E43B-10CE-F8A8D901B9C4}"/>
              </a:ext>
            </a:extLst>
          </p:cNvPr>
          <p:cNvGraphicFramePr>
            <a:graphicFrameLocks noGrp="1"/>
          </p:cNvGraphicFramePr>
          <p:nvPr>
            <p:ph sz="quarter" idx="13"/>
            <p:extLst>
              <p:ext uri="{D42A27DB-BD31-4B8C-83A1-F6EECF244321}">
                <p14:modId xmlns:p14="http://schemas.microsoft.com/office/powerpoint/2010/main" val="4117049153"/>
              </p:ext>
            </p:extLst>
          </p:nvPr>
        </p:nvGraphicFramePr>
        <p:xfrm>
          <a:off x="0" y="890016"/>
          <a:ext cx="12094464" cy="5967984"/>
        </p:xfrm>
        <a:graphic>
          <a:graphicData uri="http://schemas.openxmlformats.org/drawingml/2006/table">
            <a:tbl>
              <a:tblPr firstRow="1" bandRow="1">
                <a:tableStyleId>{5940675A-B579-460E-94D1-54222C63F5DA}</a:tableStyleId>
              </a:tblPr>
              <a:tblGrid>
                <a:gridCol w="6047232">
                  <a:extLst>
                    <a:ext uri="{9D8B030D-6E8A-4147-A177-3AD203B41FA5}">
                      <a16:colId xmlns:a16="http://schemas.microsoft.com/office/drawing/2014/main" val="730117371"/>
                    </a:ext>
                  </a:extLst>
                </a:gridCol>
                <a:gridCol w="6047232">
                  <a:extLst>
                    <a:ext uri="{9D8B030D-6E8A-4147-A177-3AD203B41FA5}">
                      <a16:colId xmlns:a16="http://schemas.microsoft.com/office/drawing/2014/main" val="3751867207"/>
                    </a:ext>
                  </a:extLst>
                </a:gridCol>
              </a:tblGrid>
              <a:tr h="542544">
                <a:tc>
                  <a:txBody>
                    <a:bodyPr/>
                    <a:lstStyle/>
                    <a:p>
                      <a:pPr algn="ctr"/>
                      <a:r>
                        <a:rPr lang="en-IN" sz="2400" b="1" dirty="0">
                          <a:latin typeface="Times New Roman" panose="02020603050405020304" pitchFamily="18" charset="0"/>
                          <a:cs typeface="Times New Roman" panose="02020603050405020304" pitchFamily="18" charset="0"/>
                        </a:rPr>
                        <a:t>CATEGORY</a:t>
                      </a:r>
                    </a:p>
                  </a:txBody>
                  <a:tcPr/>
                </a:tc>
                <a:tc>
                  <a:txBody>
                    <a:bodyPr/>
                    <a:lstStyle/>
                    <a:p>
                      <a:pPr algn="ctr"/>
                      <a:r>
                        <a:rPr lang="en-IN" sz="2400" b="1" dirty="0">
                          <a:latin typeface="Times New Roman" panose="02020603050405020304" pitchFamily="18" charset="0"/>
                          <a:cs typeface="Times New Roman" panose="02020603050405020304" pitchFamily="18" charset="0"/>
                        </a:rPr>
                        <a:t>TOOLS/TECHNOLOGIES USED</a:t>
                      </a:r>
                    </a:p>
                  </a:txBody>
                  <a:tcPr/>
                </a:tc>
                <a:extLst>
                  <a:ext uri="{0D108BD9-81ED-4DB2-BD59-A6C34878D82A}">
                    <a16:rowId xmlns:a16="http://schemas.microsoft.com/office/drawing/2014/main" val="2677514825"/>
                  </a:ext>
                </a:extLst>
              </a:tr>
              <a:tr h="542544">
                <a:tc>
                  <a:txBody>
                    <a:bodyPr/>
                    <a:lstStyle/>
                    <a:p>
                      <a:pPr algn="just"/>
                      <a:r>
                        <a:rPr lang="en-IN" sz="2400" dirty="0">
                          <a:latin typeface="Times New Roman" panose="02020603050405020304" pitchFamily="18" charset="0"/>
                          <a:cs typeface="Times New Roman" panose="02020603050405020304" pitchFamily="18" charset="0"/>
                        </a:rPr>
                        <a:t>Programming Language</a:t>
                      </a:r>
                    </a:p>
                  </a:txBody>
                  <a:tcPr/>
                </a:tc>
                <a:tc>
                  <a:txBody>
                    <a:bodyPr/>
                    <a:lstStyle/>
                    <a:p>
                      <a:pPr algn="just"/>
                      <a:r>
                        <a:rPr lang="en-IN" sz="2400" dirty="0">
                          <a:latin typeface="Times New Roman" panose="02020603050405020304" pitchFamily="18" charset="0"/>
                          <a:cs typeface="Times New Roman" panose="02020603050405020304" pitchFamily="18" charset="0"/>
                        </a:rPr>
                        <a:t>Python</a:t>
                      </a:r>
                    </a:p>
                  </a:txBody>
                  <a:tcPr/>
                </a:tc>
                <a:extLst>
                  <a:ext uri="{0D108BD9-81ED-4DB2-BD59-A6C34878D82A}">
                    <a16:rowId xmlns:a16="http://schemas.microsoft.com/office/drawing/2014/main" val="3072370321"/>
                  </a:ext>
                </a:extLst>
              </a:tr>
              <a:tr h="542544">
                <a:tc>
                  <a:txBody>
                    <a:bodyPr/>
                    <a:lstStyle/>
                    <a:p>
                      <a:pPr algn="just"/>
                      <a:r>
                        <a:rPr lang="en-IN" sz="2400" dirty="0">
                          <a:latin typeface="Times New Roman" panose="02020603050405020304" pitchFamily="18" charset="0"/>
                          <a:cs typeface="Times New Roman" panose="02020603050405020304" pitchFamily="18" charset="0"/>
                        </a:rPr>
                        <a:t>Development Environment</a:t>
                      </a:r>
                    </a:p>
                  </a:txBody>
                  <a:tcPr/>
                </a:tc>
                <a:tc>
                  <a:txBody>
                    <a:bodyPr/>
                    <a:lstStyle/>
                    <a:p>
                      <a:pPr algn="just"/>
                      <a:r>
                        <a:rPr lang="en-IN" sz="2400" dirty="0">
                          <a:latin typeface="Times New Roman" panose="02020603050405020304" pitchFamily="18" charset="0"/>
                          <a:cs typeface="Times New Roman" panose="02020603050405020304" pitchFamily="18" charset="0"/>
                        </a:rPr>
                        <a:t>Google </a:t>
                      </a:r>
                      <a:r>
                        <a:rPr lang="en-IN" sz="2400" dirty="0" err="1">
                          <a:latin typeface="Times New Roman" panose="02020603050405020304" pitchFamily="18" charset="0"/>
                          <a:cs typeface="Times New Roman" panose="02020603050405020304" pitchFamily="18" charset="0"/>
                        </a:rPr>
                        <a:t>Colab</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8698740"/>
                  </a:ext>
                </a:extLst>
              </a:tr>
              <a:tr h="542544">
                <a:tc>
                  <a:txBody>
                    <a:bodyPr/>
                    <a:lstStyle/>
                    <a:p>
                      <a:pPr algn="just"/>
                      <a:r>
                        <a:rPr lang="en-IN" sz="2400" dirty="0">
                          <a:latin typeface="Times New Roman" panose="02020603050405020304" pitchFamily="18" charset="0"/>
                          <a:cs typeface="Times New Roman" panose="02020603050405020304" pitchFamily="18" charset="0"/>
                        </a:rPr>
                        <a:t>Deep Learning framework </a:t>
                      </a:r>
                    </a:p>
                  </a:txBody>
                  <a:tcPr/>
                </a:tc>
                <a:tc>
                  <a:txBody>
                    <a:bodyPr/>
                    <a:lstStyle/>
                    <a:p>
                      <a:pPr algn="just"/>
                      <a:r>
                        <a:rPr lang="en-IN" sz="2400" dirty="0" err="1">
                          <a:latin typeface="Times New Roman" panose="02020603050405020304" pitchFamily="18" charset="0"/>
                          <a:cs typeface="Times New Roman" panose="02020603050405020304" pitchFamily="18" charset="0"/>
                        </a:rPr>
                        <a:t>PyTorch</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2592182"/>
                  </a:ext>
                </a:extLst>
              </a:tr>
              <a:tr h="542544">
                <a:tc>
                  <a:txBody>
                    <a:bodyPr/>
                    <a:lstStyle/>
                    <a:p>
                      <a:pPr algn="just"/>
                      <a:r>
                        <a:rPr lang="en-IN" sz="2400" dirty="0">
                          <a:latin typeface="Times New Roman" panose="02020603050405020304" pitchFamily="18" charset="0"/>
                          <a:cs typeface="Times New Roman" panose="02020603050405020304" pitchFamily="18" charset="0"/>
                        </a:rPr>
                        <a:t>Neural network Model</a:t>
                      </a:r>
                    </a:p>
                  </a:txBody>
                  <a:tcPr/>
                </a:tc>
                <a:tc>
                  <a:txBody>
                    <a:bodyPr/>
                    <a:lstStyle/>
                    <a:p>
                      <a:pPr algn="just"/>
                      <a:r>
                        <a:rPr lang="en-IN" sz="2400" dirty="0">
                          <a:latin typeface="Times New Roman" panose="02020603050405020304" pitchFamily="18" charset="0"/>
                          <a:cs typeface="Times New Roman" panose="02020603050405020304" pitchFamily="18" charset="0"/>
                        </a:rPr>
                        <a:t>Convolutional Neural Network(CNN)</a:t>
                      </a:r>
                    </a:p>
                  </a:txBody>
                  <a:tcPr/>
                </a:tc>
                <a:extLst>
                  <a:ext uri="{0D108BD9-81ED-4DB2-BD59-A6C34878D82A}">
                    <a16:rowId xmlns:a16="http://schemas.microsoft.com/office/drawing/2014/main" val="1436148768"/>
                  </a:ext>
                </a:extLst>
              </a:tr>
              <a:tr h="542544">
                <a:tc>
                  <a:txBody>
                    <a:bodyPr/>
                    <a:lstStyle/>
                    <a:p>
                      <a:pPr algn="just"/>
                      <a:r>
                        <a:rPr lang="en-IN" sz="2400" dirty="0">
                          <a:latin typeface="Times New Roman" panose="02020603050405020304" pitchFamily="18" charset="0"/>
                          <a:cs typeface="Times New Roman" panose="02020603050405020304" pitchFamily="18" charset="0"/>
                        </a:rPr>
                        <a:t>Fusion Technique</a:t>
                      </a:r>
                    </a:p>
                  </a:txBody>
                  <a:tcPr/>
                </a:tc>
                <a:tc>
                  <a:txBody>
                    <a:bodyPr/>
                    <a:lstStyle/>
                    <a:p>
                      <a:pPr algn="just"/>
                      <a:r>
                        <a:rPr lang="en-IN" sz="2400" dirty="0">
                          <a:latin typeface="Times New Roman" panose="02020603050405020304" pitchFamily="18" charset="0"/>
                          <a:cs typeface="Times New Roman" panose="02020603050405020304" pitchFamily="18" charset="0"/>
                        </a:rPr>
                        <a:t>Attention-Based Fusion</a:t>
                      </a:r>
                    </a:p>
                  </a:txBody>
                  <a:tcPr/>
                </a:tc>
                <a:extLst>
                  <a:ext uri="{0D108BD9-81ED-4DB2-BD59-A6C34878D82A}">
                    <a16:rowId xmlns:a16="http://schemas.microsoft.com/office/drawing/2014/main" val="1534466827"/>
                  </a:ext>
                </a:extLst>
              </a:tr>
              <a:tr h="542544">
                <a:tc>
                  <a:txBody>
                    <a:bodyPr/>
                    <a:lstStyle/>
                    <a:p>
                      <a:pPr algn="just"/>
                      <a:r>
                        <a:rPr lang="en-IN" sz="2400" dirty="0">
                          <a:latin typeface="Times New Roman" panose="02020603050405020304" pitchFamily="18" charset="0"/>
                          <a:cs typeface="Times New Roman" panose="02020603050405020304" pitchFamily="18" charset="0"/>
                        </a:rPr>
                        <a:t>Classification Layer</a:t>
                      </a:r>
                    </a:p>
                  </a:txBody>
                  <a:tcPr/>
                </a:tc>
                <a:tc>
                  <a:txBody>
                    <a:bodyPr/>
                    <a:lstStyle/>
                    <a:p>
                      <a:pPr algn="just"/>
                      <a:r>
                        <a:rPr lang="en-IN" sz="2400" dirty="0">
                          <a:latin typeface="Times New Roman" panose="02020603050405020304" pitchFamily="18" charset="0"/>
                          <a:cs typeface="Times New Roman" panose="02020603050405020304" pitchFamily="18" charset="0"/>
                        </a:rPr>
                        <a:t>Dense Neural Network</a:t>
                      </a:r>
                    </a:p>
                  </a:txBody>
                  <a:tcPr/>
                </a:tc>
                <a:extLst>
                  <a:ext uri="{0D108BD9-81ED-4DB2-BD59-A6C34878D82A}">
                    <a16:rowId xmlns:a16="http://schemas.microsoft.com/office/drawing/2014/main" val="643719391"/>
                  </a:ext>
                </a:extLst>
              </a:tr>
              <a:tr h="542544">
                <a:tc>
                  <a:txBody>
                    <a:bodyPr/>
                    <a:lstStyle/>
                    <a:p>
                      <a:pPr algn="just"/>
                      <a:r>
                        <a:rPr lang="en-IN" sz="2400" dirty="0">
                          <a:latin typeface="Times New Roman" panose="02020603050405020304" pitchFamily="18" charset="0"/>
                          <a:cs typeface="Times New Roman" panose="02020603050405020304" pitchFamily="18" charset="0"/>
                        </a:rPr>
                        <a:t>Audio Processing</a:t>
                      </a:r>
                    </a:p>
                  </a:txBody>
                  <a:tcPr/>
                </a:tc>
                <a:tc>
                  <a:txBody>
                    <a:bodyPr/>
                    <a:lstStyle/>
                    <a:p>
                      <a:pPr algn="just"/>
                      <a:r>
                        <a:rPr lang="en-IN" sz="2400" dirty="0" err="1">
                          <a:latin typeface="Times New Roman" panose="02020603050405020304" pitchFamily="18" charset="0"/>
                          <a:cs typeface="Times New Roman" panose="02020603050405020304" pitchFamily="18" charset="0"/>
                        </a:rPr>
                        <a:t>Librosa</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85146219"/>
                  </a:ext>
                </a:extLst>
              </a:tr>
              <a:tr h="542544">
                <a:tc>
                  <a:txBody>
                    <a:bodyPr/>
                    <a:lstStyle/>
                    <a:p>
                      <a:pPr algn="just"/>
                      <a:r>
                        <a:rPr lang="en-IN" sz="2400" dirty="0">
                          <a:latin typeface="Times New Roman" panose="02020603050405020304" pitchFamily="18" charset="0"/>
                          <a:cs typeface="Times New Roman" panose="02020603050405020304" pitchFamily="18" charset="0"/>
                        </a:rPr>
                        <a:t>Image Processing</a:t>
                      </a:r>
                    </a:p>
                  </a:txBody>
                  <a:tcPr/>
                </a:tc>
                <a:tc>
                  <a:txBody>
                    <a:bodyPr/>
                    <a:lstStyle/>
                    <a:p>
                      <a:pPr algn="just"/>
                      <a:r>
                        <a:rPr lang="en-IN" sz="2400" dirty="0">
                          <a:latin typeface="Times New Roman" panose="02020603050405020304" pitchFamily="18" charset="0"/>
                          <a:cs typeface="Times New Roman" panose="02020603050405020304" pitchFamily="18" charset="0"/>
                        </a:rPr>
                        <a:t>OpenCV</a:t>
                      </a:r>
                    </a:p>
                  </a:txBody>
                  <a:tcPr/>
                </a:tc>
                <a:extLst>
                  <a:ext uri="{0D108BD9-81ED-4DB2-BD59-A6C34878D82A}">
                    <a16:rowId xmlns:a16="http://schemas.microsoft.com/office/drawing/2014/main" val="3920333580"/>
                  </a:ext>
                </a:extLst>
              </a:tr>
              <a:tr h="542544">
                <a:tc>
                  <a:txBody>
                    <a:bodyPr/>
                    <a:lstStyle/>
                    <a:p>
                      <a:pPr algn="just"/>
                      <a:r>
                        <a:rPr lang="en-IN" sz="2400" dirty="0">
                          <a:latin typeface="Times New Roman" panose="02020603050405020304" pitchFamily="18" charset="0"/>
                          <a:cs typeface="Times New Roman" panose="02020603050405020304" pitchFamily="18" charset="0"/>
                        </a:rPr>
                        <a:t>Data Handling</a:t>
                      </a:r>
                    </a:p>
                  </a:txBody>
                  <a:tcPr/>
                </a:tc>
                <a:tc>
                  <a:txBody>
                    <a:bodyPr/>
                    <a:lstStyle/>
                    <a:p>
                      <a:pPr algn="just"/>
                      <a:r>
                        <a:rPr lang="en-IN" sz="2400" dirty="0">
                          <a:latin typeface="Times New Roman" panose="02020603050405020304" pitchFamily="18" charset="0"/>
                          <a:cs typeface="Times New Roman" panose="02020603050405020304" pitchFamily="18" charset="0"/>
                        </a:rPr>
                        <a:t>NumPy , Pandas</a:t>
                      </a:r>
                    </a:p>
                  </a:txBody>
                  <a:tcPr/>
                </a:tc>
                <a:extLst>
                  <a:ext uri="{0D108BD9-81ED-4DB2-BD59-A6C34878D82A}">
                    <a16:rowId xmlns:a16="http://schemas.microsoft.com/office/drawing/2014/main" val="3653825083"/>
                  </a:ext>
                </a:extLst>
              </a:tr>
              <a:tr h="542544">
                <a:tc>
                  <a:txBody>
                    <a:bodyPr/>
                    <a:lstStyle/>
                    <a:p>
                      <a:pPr algn="just"/>
                      <a:r>
                        <a:rPr lang="en-IN" sz="2400" dirty="0">
                          <a:latin typeface="Times New Roman" panose="02020603050405020304" pitchFamily="18" charset="0"/>
                          <a:cs typeface="Times New Roman" panose="02020603050405020304" pitchFamily="18" charset="0"/>
                        </a:rPr>
                        <a:t>Explainable AI</a:t>
                      </a:r>
                    </a:p>
                  </a:txBody>
                  <a:tcPr/>
                </a:tc>
                <a:tc>
                  <a:txBody>
                    <a:bodyPr/>
                    <a:lstStyle/>
                    <a:p>
                      <a:pPr algn="just"/>
                      <a:r>
                        <a:rPr lang="en-IN" sz="2400" dirty="0">
                          <a:latin typeface="Times New Roman" panose="02020603050405020304" pitchFamily="18" charset="0"/>
                          <a:cs typeface="Times New Roman" panose="02020603050405020304" pitchFamily="18" charset="0"/>
                        </a:rPr>
                        <a:t>Grad-CAM</a:t>
                      </a:r>
                    </a:p>
                  </a:txBody>
                  <a:tcPr/>
                </a:tc>
                <a:extLst>
                  <a:ext uri="{0D108BD9-81ED-4DB2-BD59-A6C34878D82A}">
                    <a16:rowId xmlns:a16="http://schemas.microsoft.com/office/drawing/2014/main" val="979604835"/>
                  </a:ext>
                </a:extLst>
              </a:tr>
            </a:tbl>
          </a:graphicData>
        </a:graphic>
      </p:graphicFrame>
    </p:spTree>
    <p:extLst>
      <p:ext uri="{BB962C8B-B14F-4D97-AF65-F5344CB8AC3E}">
        <p14:creationId xmlns:p14="http://schemas.microsoft.com/office/powerpoint/2010/main" val="822439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08BF8-FC6D-06C3-0F7B-FB56CC3F2921}"/>
              </a:ext>
            </a:extLst>
          </p:cNvPr>
          <p:cNvSpPr>
            <a:spLocks noGrp="1"/>
          </p:cNvSpPr>
          <p:nvPr>
            <p:ph type="title"/>
          </p:nvPr>
        </p:nvSpPr>
        <p:spPr>
          <a:xfrm>
            <a:off x="83820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IMPLEMENTATION</a:t>
            </a:r>
            <a:endParaRPr lang="en-IN" sz="4000" b="1" dirty="0"/>
          </a:p>
        </p:txBody>
      </p:sp>
      <p:sp>
        <p:nvSpPr>
          <p:cNvPr id="3" name="Content Placeholder 2">
            <a:extLst>
              <a:ext uri="{FF2B5EF4-FFF2-40B4-BE49-F238E27FC236}">
                <a16:creationId xmlns:a16="http://schemas.microsoft.com/office/drawing/2014/main" id="{41385B18-998E-A3FA-6A3F-EEB45B597414}"/>
              </a:ext>
            </a:extLst>
          </p:cNvPr>
          <p:cNvSpPr>
            <a:spLocks noGrp="1"/>
          </p:cNvSpPr>
          <p:nvPr>
            <p:ph sz="quarter" idx="13"/>
          </p:nvPr>
        </p:nvSpPr>
        <p:spPr>
          <a:xfrm>
            <a:off x="360218" y="1074438"/>
            <a:ext cx="11637818" cy="5575744"/>
          </a:xfrm>
        </p:spPr>
        <p:txBody>
          <a:bodyPr>
            <a:normAutofit fontScale="70000" lnSpcReduction="20000"/>
          </a:bodyPr>
          <a:lstStyle/>
          <a:p>
            <a:pPr algn="just">
              <a:lnSpc>
                <a:spcPct val="120000"/>
              </a:lnSpc>
            </a:pPr>
            <a:r>
              <a:rPr lang="en-IN" b="1" dirty="0">
                <a:latin typeface="Times New Roman" panose="02020603050405020304" pitchFamily="18" charset="0"/>
                <a:cs typeface="Times New Roman" panose="02020603050405020304" pitchFamily="18" charset="0"/>
              </a:rPr>
              <a:t>User Authentication: </a:t>
            </a:r>
            <a:r>
              <a:rPr lang="en-IN" dirty="0">
                <a:latin typeface="Times New Roman" panose="02020603050405020304" pitchFamily="18" charset="0"/>
                <a:cs typeface="Times New Roman" panose="02020603050405020304" pitchFamily="18" charset="0"/>
              </a:rPr>
              <a:t>Provides secure login access for authorized users.</a:t>
            </a:r>
          </a:p>
          <a:p>
            <a:pPr algn="just">
              <a:lnSpc>
                <a:spcPct val="120000"/>
              </a:lnSpc>
            </a:pPr>
            <a:r>
              <a:rPr lang="en-IN" b="1" dirty="0">
                <a:latin typeface="Times New Roman" panose="02020603050405020304" pitchFamily="18" charset="0"/>
                <a:cs typeface="Times New Roman" panose="02020603050405020304" pitchFamily="18" charset="0"/>
              </a:rPr>
              <a:t>Data Upload Module: </a:t>
            </a:r>
            <a:r>
              <a:rPr lang="en-IN" dirty="0">
                <a:latin typeface="Times New Roman" panose="02020603050405020304" pitchFamily="18" charset="0"/>
                <a:cs typeface="Times New Roman" panose="02020603050405020304" pitchFamily="18" charset="0"/>
              </a:rPr>
              <a:t>Allows uploading of speech audio, handwriting images, and gait videos.</a:t>
            </a:r>
          </a:p>
          <a:p>
            <a:pPr algn="just">
              <a:lnSpc>
                <a:spcPct val="120000"/>
              </a:lnSpc>
            </a:pPr>
            <a:r>
              <a:rPr lang="en-IN" b="1" dirty="0">
                <a:latin typeface="Times New Roman" panose="02020603050405020304" pitchFamily="18" charset="0"/>
                <a:cs typeface="Times New Roman" panose="02020603050405020304" pitchFamily="18" charset="0"/>
              </a:rPr>
              <a:t>Audio Feature Extraction: </a:t>
            </a:r>
            <a:r>
              <a:rPr lang="en-IN" dirty="0">
                <a:latin typeface="Times New Roman" panose="02020603050405020304" pitchFamily="18" charset="0"/>
                <a:cs typeface="Times New Roman" panose="02020603050405020304" pitchFamily="18" charset="0"/>
              </a:rPr>
              <a:t>Converts speech recordings into spectrograms and extracts voice-related features using CNN.</a:t>
            </a:r>
          </a:p>
          <a:p>
            <a:pPr algn="just">
              <a:lnSpc>
                <a:spcPct val="120000"/>
              </a:lnSpc>
            </a:pPr>
            <a:r>
              <a:rPr lang="en-IN" b="1" dirty="0">
                <a:latin typeface="Times New Roman" panose="02020603050405020304" pitchFamily="18" charset="0"/>
                <a:cs typeface="Times New Roman" panose="02020603050405020304" pitchFamily="18" charset="0"/>
              </a:rPr>
              <a:t>Image &amp; Video Processing: </a:t>
            </a:r>
            <a:r>
              <a:rPr lang="en-IN" dirty="0">
                <a:latin typeface="Times New Roman" panose="02020603050405020304" pitchFamily="18" charset="0"/>
                <a:cs typeface="Times New Roman" panose="02020603050405020304" pitchFamily="18" charset="0"/>
              </a:rPr>
              <a:t>Processes handwriting images and gait video frames for feature extraction.</a:t>
            </a:r>
          </a:p>
          <a:p>
            <a:pPr algn="just">
              <a:lnSpc>
                <a:spcPct val="120000"/>
              </a:lnSpc>
            </a:pPr>
            <a:r>
              <a:rPr lang="en-IN" b="1" dirty="0">
                <a:latin typeface="Times New Roman" panose="02020603050405020304" pitchFamily="18" charset="0"/>
                <a:cs typeface="Times New Roman" panose="02020603050405020304" pitchFamily="18" charset="0"/>
              </a:rPr>
              <a:t>CNN Feature Extraction: </a:t>
            </a:r>
            <a:r>
              <a:rPr lang="en-IN" dirty="0">
                <a:latin typeface="Times New Roman" panose="02020603050405020304" pitchFamily="18" charset="0"/>
                <a:cs typeface="Times New Roman" panose="02020603050405020304" pitchFamily="18" charset="0"/>
              </a:rPr>
              <a:t>Automatically learns important patterns from speech, handwriting, and gait data.</a:t>
            </a:r>
          </a:p>
          <a:p>
            <a:pPr algn="just">
              <a:lnSpc>
                <a:spcPct val="120000"/>
              </a:lnSpc>
            </a:pPr>
            <a:r>
              <a:rPr lang="en-IN" b="1" dirty="0">
                <a:latin typeface="Times New Roman" panose="02020603050405020304" pitchFamily="18" charset="0"/>
                <a:cs typeface="Times New Roman" panose="02020603050405020304" pitchFamily="18" charset="0"/>
              </a:rPr>
              <a:t>Attention-Based Fusion: </a:t>
            </a:r>
            <a:r>
              <a:rPr lang="en-IN" dirty="0">
                <a:latin typeface="Times New Roman" panose="02020603050405020304" pitchFamily="18" charset="0"/>
                <a:cs typeface="Times New Roman" panose="02020603050405020304" pitchFamily="18" charset="0"/>
              </a:rPr>
              <a:t>Combines multimodal features and assigns importance to the most relevant modality.</a:t>
            </a:r>
          </a:p>
          <a:p>
            <a:pPr algn="just">
              <a:lnSpc>
                <a:spcPct val="120000"/>
              </a:lnSpc>
            </a:pPr>
            <a:r>
              <a:rPr lang="en-IN" b="1" dirty="0">
                <a:latin typeface="Times New Roman" panose="02020603050405020304" pitchFamily="18" charset="0"/>
                <a:cs typeface="Times New Roman" panose="02020603050405020304" pitchFamily="18" charset="0"/>
              </a:rPr>
              <a:t>Dense Classification Layer: </a:t>
            </a:r>
            <a:r>
              <a:rPr lang="en-IN" dirty="0">
                <a:latin typeface="Times New Roman" panose="02020603050405020304" pitchFamily="18" charset="0"/>
                <a:cs typeface="Times New Roman" panose="02020603050405020304" pitchFamily="18" charset="0"/>
              </a:rPr>
              <a:t>Produces the final prediction (Parkinson’s / Healthy) with a confidence score.</a:t>
            </a:r>
          </a:p>
          <a:p>
            <a:pPr algn="just">
              <a:lnSpc>
                <a:spcPct val="120000"/>
              </a:lnSpc>
            </a:pPr>
            <a:r>
              <a:rPr lang="en-IN" b="1" dirty="0">
                <a:latin typeface="Times New Roman" panose="02020603050405020304" pitchFamily="18" charset="0"/>
                <a:cs typeface="Times New Roman" panose="02020603050405020304" pitchFamily="18" charset="0"/>
              </a:rPr>
              <a:t>Explainable AI Module: </a:t>
            </a:r>
            <a:r>
              <a:rPr lang="en-IN" dirty="0">
                <a:latin typeface="Times New Roman" panose="02020603050405020304" pitchFamily="18" charset="0"/>
                <a:cs typeface="Times New Roman" panose="02020603050405020304" pitchFamily="18" charset="0"/>
              </a:rPr>
              <a:t>Uses Grad-CAM for visual highlighting and Claude API to generate human-readable clinical explanations.</a:t>
            </a:r>
          </a:p>
          <a:p>
            <a:pPr algn="just">
              <a:lnSpc>
                <a:spcPct val="120000"/>
              </a:lnSpc>
            </a:pPr>
            <a:r>
              <a:rPr lang="en-IN" b="1" dirty="0">
                <a:latin typeface="Times New Roman" panose="02020603050405020304" pitchFamily="18" charset="0"/>
                <a:cs typeface="Times New Roman" panose="02020603050405020304" pitchFamily="18" charset="0"/>
              </a:rPr>
              <a:t>Result Display Module: </a:t>
            </a:r>
            <a:r>
              <a:rPr lang="en-IN" dirty="0">
                <a:latin typeface="Times New Roman" panose="02020603050405020304" pitchFamily="18" charset="0"/>
                <a:cs typeface="Times New Roman" panose="02020603050405020304" pitchFamily="18" charset="0"/>
              </a:rPr>
              <a:t>Shows prediction result, confidence score, attention contribution, and explanation on the web interface.</a:t>
            </a:r>
          </a:p>
          <a:p>
            <a:pPr algn="just">
              <a:lnSpc>
                <a:spcPct val="120000"/>
              </a:lnSpc>
            </a:pPr>
            <a:r>
              <a:rPr lang="en-IN" b="1" dirty="0">
                <a:latin typeface="Times New Roman" panose="02020603050405020304" pitchFamily="18" charset="0"/>
                <a:cs typeface="Times New Roman" panose="02020603050405020304" pitchFamily="18" charset="0"/>
              </a:rPr>
              <a:t>Deployment Module: </a:t>
            </a:r>
            <a:r>
              <a:rPr lang="en-IN" dirty="0">
                <a:latin typeface="Times New Roman" panose="02020603050405020304" pitchFamily="18" charset="0"/>
                <a:cs typeface="Times New Roman" panose="02020603050405020304" pitchFamily="18" charset="0"/>
              </a:rPr>
              <a:t>Deploys the React frontend and Flask backend using </a:t>
            </a:r>
            <a:r>
              <a:rPr lang="en-IN" dirty="0" err="1">
                <a:latin typeface="Times New Roman" panose="02020603050405020304" pitchFamily="18" charset="0"/>
                <a:cs typeface="Times New Roman" panose="02020603050405020304" pitchFamily="18" charset="0"/>
              </a:rPr>
              <a:t>Gunicorn</a:t>
            </a:r>
            <a:r>
              <a:rPr lang="en-IN" dirty="0">
                <a:latin typeface="Times New Roman" panose="02020603050405020304" pitchFamily="18" charset="0"/>
                <a:cs typeface="Times New Roman" panose="02020603050405020304" pitchFamily="18" charset="0"/>
              </a:rPr>
              <a:t> on Render.</a:t>
            </a:r>
          </a:p>
        </p:txBody>
      </p:sp>
    </p:spTree>
    <p:extLst>
      <p:ext uri="{BB962C8B-B14F-4D97-AF65-F5344CB8AC3E}">
        <p14:creationId xmlns:p14="http://schemas.microsoft.com/office/powerpoint/2010/main" val="2721980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AF419-4159-A335-754C-CF18A0CF483E}"/>
              </a:ext>
            </a:extLst>
          </p:cNvPr>
          <p:cNvSpPr>
            <a:spLocks noGrp="1"/>
          </p:cNvSpPr>
          <p:nvPr>
            <p:ph type="title"/>
          </p:nvPr>
        </p:nvSpPr>
        <p:spPr>
          <a:xfrm>
            <a:off x="838200" y="669925"/>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CURRENT PROGRESS</a:t>
            </a:r>
            <a:endParaRPr lang="en-IN" sz="4000" b="1" dirty="0"/>
          </a:p>
        </p:txBody>
      </p:sp>
      <p:sp>
        <p:nvSpPr>
          <p:cNvPr id="3" name="Content Placeholder 2">
            <a:extLst>
              <a:ext uri="{FF2B5EF4-FFF2-40B4-BE49-F238E27FC236}">
                <a16:creationId xmlns:a16="http://schemas.microsoft.com/office/drawing/2014/main" id="{9A19BA59-7D89-6813-1C0A-7F7338DE5325}"/>
              </a:ext>
            </a:extLst>
          </p:cNvPr>
          <p:cNvSpPr>
            <a:spLocks noGrp="1"/>
          </p:cNvSpPr>
          <p:nvPr>
            <p:ph sz="quarter" idx="13"/>
          </p:nvPr>
        </p:nvSpPr>
        <p:spPr>
          <a:xfrm>
            <a:off x="1163783" y="2210259"/>
            <a:ext cx="10321635" cy="3424107"/>
          </a:xfrm>
        </p:spPr>
        <p:txBody>
          <a:bodyPr>
            <a:norm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Frontend Development Completed</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User interface for data upload and result display has been successfully designed and implemented.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23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8901-8BD7-BFF5-8559-2F7711533245}"/>
              </a:ext>
            </a:extLst>
          </p:cNvPr>
          <p:cNvSpPr>
            <a:spLocks noGrp="1"/>
          </p:cNvSpPr>
          <p:nvPr>
            <p:ph type="title"/>
          </p:nvPr>
        </p:nvSpPr>
        <p:spPr>
          <a:xfrm>
            <a:off x="83820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FUTURE WORK</a:t>
            </a:r>
            <a:endParaRPr lang="en-IN" sz="4000" b="1" dirty="0"/>
          </a:p>
        </p:txBody>
      </p:sp>
      <p:sp>
        <p:nvSpPr>
          <p:cNvPr id="3" name="Content Placeholder 2">
            <a:extLst>
              <a:ext uri="{FF2B5EF4-FFF2-40B4-BE49-F238E27FC236}">
                <a16:creationId xmlns:a16="http://schemas.microsoft.com/office/drawing/2014/main" id="{3FDD8546-1924-6053-89BA-9AA180687DDB}"/>
              </a:ext>
            </a:extLst>
          </p:cNvPr>
          <p:cNvSpPr>
            <a:spLocks noGrp="1"/>
          </p:cNvSpPr>
          <p:nvPr>
            <p:ph sz="quarter" idx="13"/>
          </p:nvPr>
        </p:nvSpPr>
        <p:spPr>
          <a:xfrm>
            <a:off x="1049960" y="1177636"/>
            <a:ext cx="10515599" cy="5417128"/>
          </a:xfrm>
        </p:spPr>
        <p:txBody>
          <a:bodyPr>
            <a:normAutofit fontScale="70000" lnSpcReduction="20000"/>
          </a:bodyPr>
          <a:lstStyle/>
          <a:p>
            <a:pPr marL="0" indent="0" algn="just">
              <a:lnSpc>
                <a:spcPct val="120000"/>
              </a:lnSpc>
              <a:buNone/>
            </a:pPr>
            <a:r>
              <a:rPr lang="en-IN" b="1" dirty="0">
                <a:latin typeface="Times New Roman" panose="02020603050405020304" pitchFamily="18" charset="0"/>
                <a:cs typeface="Times New Roman" panose="02020603050405020304" pitchFamily="18" charset="0"/>
              </a:rPr>
              <a:t>Model Development &amp; Integration Phase</a:t>
            </a:r>
          </a:p>
          <a:p>
            <a:pPr algn="just">
              <a:lnSpc>
                <a:spcPct val="120000"/>
              </a:lnSpc>
            </a:pPr>
            <a:r>
              <a:rPr lang="en-IN" dirty="0">
                <a:latin typeface="Times New Roman" panose="02020603050405020304" pitchFamily="18" charset="0"/>
                <a:cs typeface="Times New Roman" panose="02020603050405020304" pitchFamily="18" charset="0"/>
              </a:rPr>
              <a:t>Implementation of CNN-based multimodal deep learning model</a:t>
            </a:r>
          </a:p>
          <a:p>
            <a:pPr algn="just">
              <a:lnSpc>
                <a:spcPct val="120000"/>
              </a:lnSpc>
            </a:pPr>
            <a:r>
              <a:rPr lang="en-IN" dirty="0">
                <a:latin typeface="Times New Roman" panose="02020603050405020304" pitchFamily="18" charset="0"/>
                <a:cs typeface="Times New Roman" panose="02020603050405020304" pitchFamily="18" charset="0"/>
              </a:rPr>
              <a:t>Integration of attention mechanism and dense classification layer</a:t>
            </a:r>
          </a:p>
          <a:p>
            <a:pPr algn="just">
              <a:lnSpc>
                <a:spcPct val="120000"/>
              </a:lnSpc>
            </a:pPr>
            <a:r>
              <a:rPr lang="en-IN" dirty="0">
                <a:latin typeface="Times New Roman" panose="02020603050405020304" pitchFamily="18" charset="0"/>
                <a:cs typeface="Times New Roman" panose="02020603050405020304" pitchFamily="18" charset="0"/>
              </a:rPr>
              <a:t>Development of audio, handwriting, and gait feature extraction modules</a:t>
            </a:r>
          </a:p>
          <a:p>
            <a:pPr algn="just">
              <a:lnSpc>
                <a:spcPct val="120000"/>
              </a:lnSpc>
            </a:pPr>
            <a:r>
              <a:rPr lang="en-IN" dirty="0">
                <a:latin typeface="Times New Roman" panose="02020603050405020304" pitchFamily="18" charset="0"/>
                <a:cs typeface="Times New Roman" panose="02020603050405020304" pitchFamily="18" charset="0"/>
              </a:rPr>
              <a:t>Integration of Grad-CAM and Claude API for explainable AI</a:t>
            </a:r>
          </a:p>
          <a:p>
            <a:pPr algn="just">
              <a:lnSpc>
                <a:spcPct val="120000"/>
              </a:lnSpc>
            </a:pPr>
            <a:r>
              <a:rPr lang="en-IN" dirty="0">
                <a:latin typeface="Times New Roman" panose="02020603050405020304" pitchFamily="18" charset="0"/>
                <a:cs typeface="Times New Roman" panose="02020603050405020304" pitchFamily="18" charset="0"/>
              </a:rPr>
              <a:t>Backend API integration with trained model</a:t>
            </a:r>
          </a:p>
          <a:p>
            <a:pPr marL="0" indent="0" algn="just">
              <a:lnSpc>
                <a:spcPct val="120000"/>
              </a:lnSpc>
              <a:buNone/>
            </a:pPr>
            <a:r>
              <a:rPr lang="en-IN" b="1" dirty="0">
                <a:latin typeface="Times New Roman" panose="02020603050405020304" pitchFamily="18" charset="0"/>
                <a:cs typeface="Times New Roman" panose="02020603050405020304" pitchFamily="18" charset="0"/>
              </a:rPr>
              <a:t>Testing &amp; Validation Phase</a:t>
            </a:r>
          </a:p>
          <a:p>
            <a:pPr algn="just">
              <a:lnSpc>
                <a:spcPct val="120000"/>
              </a:lnSpc>
            </a:pPr>
            <a:r>
              <a:rPr lang="en-IN" dirty="0">
                <a:latin typeface="Times New Roman" panose="02020603050405020304" pitchFamily="18" charset="0"/>
                <a:cs typeface="Times New Roman" panose="02020603050405020304" pitchFamily="18" charset="0"/>
              </a:rPr>
              <a:t>Functional testing of backend prediction modules</a:t>
            </a:r>
          </a:p>
          <a:p>
            <a:pPr algn="just">
              <a:lnSpc>
                <a:spcPct val="120000"/>
              </a:lnSpc>
            </a:pPr>
            <a:r>
              <a:rPr lang="en-IN" dirty="0">
                <a:latin typeface="Times New Roman" panose="02020603050405020304" pitchFamily="18" charset="0"/>
                <a:cs typeface="Times New Roman" panose="02020603050405020304" pitchFamily="18" charset="0"/>
              </a:rPr>
              <a:t>Model accuracy evaluation (Precision, Recall, F1-score analysis)</a:t>
            </a:r>
          </a:p>
          <a:p>
            <a:pPr algn="just">
              <a:lnSpc>
                <a:spcPct val="120000"/>
              </a:lnSpc>
            </a:pPr>
            <a:r>
              <a:rPr lang="en-IN" dirty="0">
                <a:latin typeface="Times New Roman" panose="02020603050405020304" pitchFamily="18" charset="0"/>
                <a:cs typeface="Times New Roman" panose="02020603050405020304" pitchFamily="18" charset="0"/>
              </a:rPr>
              <a:t>Validation using different patient datasets</a:t>
            </a:r>
          </a:p>
          <a:p>
            <a:pPr algn="just">
              <a:lnSpc>
                <a:spcPct val="120000"/>
              </a:lnSpc>
            </a:pPr>
            <a:r>
              <a:rPr lang="en-IN" dirty="0">
                <a:latin typeface="Times New Roman" panose="02020603050405020304" pitchFamily="18" charset="0"/>
                <a:cs typeface="Times New Roman" panose="02020603050405020304" pitchFamily="18" charset="0"/>
              </a:rPr>
              <a:t>Performance testing for real-time prediction</a:t>
            </a:r>
          </a:p>
          <a:p>
            <a:pPr algn="just">
              <a:lnSpc>
                <a:spcPct val="120000"/>
              </a:lnSpc>
            </a:pPr>
            <a:r>
              <a:rPr lang="en-IN" dirty="0">
                <a:latin typeface="Times New Roman" panose="02020603050405020304" pitchFamily="18" charset="0"/>
                <a:cs typeface="Times New Roman" panose="02020603050405020304" pitchFamily="18" charset="0"/>
              </a:rPr>
              <a:t>Error handling and robustness testing</a:t>
            </a:r>
          </a:p>
        </p:txBody>
      </p:sp>
    </p:spTree>
    <p:extLst>
      <p:ext uri="{BB962C8B-B14F-4D97-AF65-F5344CB8AC3E}">
        <p14:creationId xmlns:p14="http://schemas.microsoft.com/office/powerpoint/2010/main" val="2031546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A53F-0E09-A7E0-7BFF-C218749617C8}"/>
              </a:ext>
            </a:extLst>
          </p:cNvPr>
          <p:cNvSpPr>
            <a:spLocks noGrp="1"/>
          </p:cNvSpPr>
          <p:nvPr>
            <p:ph type="title"/>
          </p:nvPr>
        </p:nvSpPr>
        <p:spPr>
          <a:xfrm>
            <a:off x="838200" y="-180941"/>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CONCLUSION</a:t>
            </a:r>
            <a:endParaRPr lang="en-IN" sz="4000" b="1" dirty="0"/>
          </a:p>
        </p:txBody>
      </p:sp>
      <p:sp>
        <p:nvSpPr>
          <p:cNvPr id="3" name="Content Placeholder 2">
            <a:extLst>
              <a:ext uri="{FF2B5EF4-FFF2-40B4-BE49-F238E27FC236}">
                <a16:creationId xmlns:a16="http://schemas.microsoft.com/office/drawing/2014/main" id="{37E62FEB-5ED4-3E19-3CD4-A9E251347FA3}"/>
              </a:ext>
            </a:extLst>
          </p:cNvPr>
          <p:cNvSpPr>
            <a:spLocks noGrp="1"/>
          </p:cNvSpPr>
          <p:nvPr>
            <p:ph sz="quarter" idx="13"/>
          </p:nvPr>
        </p:nvSpPr>
        <p:spPr>
          <a:xfrm>
            <a:off x="470068" y="870704"/>
            <a:ext cx="11512933" cy="5737914"/>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The proposed multimodal deep learning system demonstrates an effective and non-invasive approach for early prediction of Parkinson's Disease.</a:t>
            </a:r>
          </a:p>
          <a:p>
            <a:pPr algn="just">
              <a:lnSpc>
                <a:spcPct val="100000"/>
              </a:lnSpc>
            </a:pPr>
            <a:r>
              <a:rPr lang="en-US" sz="2400" dirty="0">
                <a:latin typeface="Times New Roman" panose="02020603050405020304" pitchFamily="18" charset="0"/>
                <a:cs typeface="Times New Roman" panose="02020603050405020304" pitchFamily="18" charset="0"/>
              </a:rPr>
              <a:t>By integrating speech, handwriting, and gait data, the system overcomes limitations of single-modality diagnosis and improves prediction accuracy.</a:t>
            </a:r>
          </a:p>
          <a:p>
            <a:pPr algn="just">
              <a:lnSpc>
                <a:spcPct val="100000"/>
              </a:lnSpc>
            </a:pPr>
            <a:r>
              <a:rPr lang="en-US" sz="2400" dirty="0">
                <a:latin typeface="Times New Roman" panose="02020603050405020304" pitchFamily="18" charset="0"/>
                <a:cs typeface="Times New Roman" panose="02020603050405020304" pitchFamily="18" charset="0"/>
              </a:rPr>
              <a:t>The deployed web-based solution enables real-time screening and has strong potential for use in primary healthcare, telemedicine, and early clinical decision support.</a:t>
            </a: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Expected impact </a:t>
            </a:r>
          </a:p>
          <a:p>
            <a:pPr algn="just">
              <a:lnSpc>
                <a:spcPct val="100000"/>
              </a:lnSpc>
            </a:pPr>
            <a:r>
              <a:rPr lang="en-US" sz="2400" dirty="0">
                <a:latin typeface="Times New Roman" panose="02020603050405020304" pitchFamily="18" charset="0"/>
                <a:cs typeface="Times New Roman" panose="02020603050405020304" pitchFamily="18" charset="0"/>
              </a:rPr>
              <a:t>Enhances early screening support for Parkinson’s Disease using non-invasive multimodal data.</a:t>
            </a:r>
          </a:p>
          <a:p>
            <a:pPr algn="just">
              <a:lnSpc>
                <a:spcPct val="100000"/>
              </a:lnSpc>
            </a:pPr>
            <a:r>
              <a:rPr lang="en-US" sz="2400" dirty="0">
                <a:latin typeface="Times New Roman" panose="02020603050405020304" pitchFamily="18" charset="0"/>
                <a:cs typeface="Times New Roman" panose="02020603050405020304" pitchFamily="18" charset="0"/>
              </a:rPr>
              <a:t>Improves clinical decision-making by providing interpretable predictions with confidence scores.</a:t>
            </a:r>
          </a:p>
          <a:p>
            <a:pPr algn="just">
              <a:lnSpc>
                <a:spcPct val="100000"/>
              </a:lnSpc>
            </a:pPr>
            <a:r>
              <a:rPr lang="en-US" sz="2400" dirty="0">
                <a:latin typeface="Times New Roman" panose="02020603050405020304" pitchFamily="18" charset="0"/>
                <a:cs typeface="Times New Roman" panose="02020603050405020304" pitchFamily="18" charset="0"/>
              </a:rPr>
              <a:t>Increases accessibility to neurological screening in rural and remote healthcare settings.</a:t>
            </a:r>
          </a:p>
        </p:txBody>
      </p:sp>
    </p:spTree>
    <p:extLst>
      <p:ext uri="{BB962C8B-B14F-4D97-AF65-F5344CB8AC3E}">
        <p14:creationId xmlns:p14="http://schemas.microsoft.com/office/powerpoint/2010/main" val="1164519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1C07B-07B9-7E72-A3A1-AF08EFC28AE0}"/>
              </a:ext>
            </a:extLst>
          </p:cNvPr>
          <p:cNvSpPr>
            <a:spLocks noGrp="1"/>
          </p:cNvSpPr>
          <p:nvPr>
            <p:ph type="title"/>
          </p:nvPr>
        </p:nvSpPr>
        <p:spPr>
          <a:xfrm>
            <a:off x="83820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REFERENCES</a:t>
            </a:r>
            <a:endParaRPr lang="en-IN" sz="4000" b="1" dirty="0"/>
          </a:p>
        </p:txBody>
      </p:sp>
      <p:sp>
        <p:nvSpPr>
          <p:cNvPr id="3" name="Content Placeholder 2">
            <a:extLst>
              <a:ext uri="{FF2B5EF4-FFF2-40B4-BE49-F238E27FC236}">
                <a16:creationId xmlns:a16="http://schemas.microsoft.com/office/drawing/2014/main" id="{7E4C0BDD-E0E4-E0F8-E02D-42364830C56A}"/>
              </a:ext>
            </a:extLst>
          </p:cNvPr>
          <p:cNvSpPr>
            <a:spLocks noGrp="1"/>
          </p:cNvSpPr>
          <p:nvPr>
            <p:ph sz="quarter" idx="13"/>
          </p:nvPr>
        </p:nvSpPr>
        <p:spPr>
          <a:xfrm>
            <a:off x="475175" y="1234977"/>
            <a:ext cx="11241024" cy="5705856"/>
          </a:xfrm>
        </p:spPr>
        <p:txBody>
          <a:bodyPr>
            <a:noAutofit/>
          </a:bodyPr>
          <a:lstStyle/>
          <a:p>
            <a:pPr marL="0" indent="0" algn="just">
              <a:buNone/>
            </a:pPr>
            <a:r>
              <a:rPr lang="en-IN" sz="18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1] A. Wingate, et al., “Unified Deep Learning Approach for Prediction of Parkinson’s Disease,” IET Image Processing, vol. 14, no. 15, pp. 1–12, 2020.</a:t>
            </a:r>
          </a:p>
          <a:p>
            <a:pPr marL="0" indent="0" algn="just">
              <a:buNone/>
            </a:pPr>
            <a:r>
              <a:rPr lang="en-IN" sz="2000" dirty="0">
                <a:latin typeface="Times New Roman" panose="02020603050405020304" pitchFamily="18" charset="0"/>
                <a:cs typeface="Times New Roman" panose="02020603050405020304" pitchFamily="18" charset="0"/>
              </a:rPr>
              <a:t>[2] R. Soundararajan, et al., “Deeply Trained Real-Time Body Sensor Networks for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 Symptoms of Parkinson’s Disease,” IEEE Sensors Journal, vol. 22, no. 18, pp. 17845–17856, 2022.</a:t>
            </a:r>
          </a:p>
          <a:p>
            <a:pPr marL="0" indent="0" algn="just">
              <a:buNone/>
            </a:pPr>
            <a:r>
              <a:rPr lang="en-IN" sz="2000" dirty="0">
                <a:latin typeface="Times New Roman" panose="02020603050405020304" pitchFamily="18" charset="0"/>
                <a:cs typeface="Times New Roman" panose="02020603050405020304" pitchFamily="18" charset="0"/>
              </a:rPr>
              <a:t>[3] E. </a:t>
            </a:r>
            <a:r>
              <a:rPr lang="en-IN" sz="2000" dirty="0" err="1">
                <a:latin typeface="Times New Roman" panose="02020603050405020304" pitchFamily="18" charset="0"/>
                <a:cs typeface="Times New Roman" panose="02020603050405020304" pitchFamily="18" charset="0"/>
              </a:rPr>
              <a:t>Aşuroğlu</a:t>
            </a:r>
            <a:r>
              <a:rPr lang="en-IN" sz="2000" dirty="0">
                <a:latin typeface="Times New Roman" panose="02020603050405020304" pitchFamily="18" charset="0"/>
                <a:cs typeface="Times New Roman" panose="02020603050405020304" pitchFamily="18" charset="0"/>
              </a:rPr>
              <a:t> and H. </a:t>
            </a:r>
            <a:r>
              <a:rPr lang="en-IN" sz="2000" dirty="0" err="1">
                <a:latin typeface="Times New Roman" panose="02020603050405020304" pitchFamily="18" charset="0"/>
                <a:cs typeface="Times New Roman" panose="02020603050405020304" pitchFamily="18" charset="0"/>
              </a:rPr>
              <a:t>Oğul</a:t>
            </a:r>
            <a:r>
              <a:rPr lang="en-IN" sz="2000" dirty="0">
                <a:latin typeface="Times New Roman" panose="02020603050405020304" pitchFamily="18" charset="0"/>
                <a:cs typeface="Times New Roman" panose="02020603050405020304" pitchFamily="18" charset="0"/>
              </a:rPr>
              <a:t>, “A Deep Learning Approach for Parkinson’s Disease Severity Assessment,” Neural Computing and Applications, vol. 34, no. 21, pp. 18367–18382, 2022.</a:t>
            </a:r>
          </a:p>
          <a:p>
            <a:pPr marL="0" indent="0" algn="just">
              <a:buNone/>
            </a:pPr>
            <a:r>
              <a:rPr lang="en-IN" sz="2000" dirty="0">
                <a:latin typeface="Times New Roman" panose="02020603050405020304" pitchFamily="18" charset="0"/>
                <a:cs typeface="Times New Roman" panose="02020603050405020304" pitchFamily="18" charset="0"/>
              </a:rPr>
              <a:t>[4] A. K. Singh, et al., “A Vision-Based Framework for Predicting Multiple Sclerosis and Parkinson’s Disease Gait Dysfunctions: A Deep Learning Approach,” IEEE Access, vol. 11, pp. 112345–112360, 2023.</a:t>
            </a:r>
          </a:p>
          <a:p>
            <a:pPr marL="0" indent="0" algn="just">
              <a:buNone/>
            </a:pPr>
            <a:r>
              <a:rPr lang="en-IN" sz="2000" dirty="0">
                <a:latin typeface="Times New Roman" panose="02020603050405020304" pitchFamily="18" charset="0"/>
                <a:cs typeface="Times New Roman" panose="02020603050405020304" pitchFamily="18" charset="0"/>
              </a:rPr>
              <a:t>[5] F. J. Martinez-Murcia, et al., “Bridging Imaging and Clinical Scores in Parkinson’s Progression via Multimodal Self-Supervised Deep Learning,” Computers in Biology and Medicine, vol. 165, pp. 107326, 2024.</a:t>
            </a:r>
          </a:p>
          <a:p>
            <a:pPr marL="0" indent="0" algn="just">
              <a:buNone/>
            </a:pPr>
            <a:r>
              <a:rPr lang="en-IN" sz="2000" dirty="0">
                <a:latin typeface="Times New Roman" panose="02020603050405020304" pitchFamily="18" charset="0"/>
                <a:cs typeface="Times New Roman" panose="02020603050405020304" pitchFamily="18" charset="0"/>
              </a:rPr>
              <a:t>[6] A. Shaikh Abdul Hannan, “Advancing Parkinson’s Disease Severity Prediction Using Multimodal Convolutional Recursive Deep Belief Networks,” Biomedical Signal Processing and Control, vol. 95, pp. 105123, 2024.</a:t>
            </a:r>
          </a:p>
          <a:p>
            <a:pPr marL="0" indent="0" algn="just">
              <a:buNone/>
            </a:pPr>
            <a:r>
              <a:rPr lang="en-IN" sz="2000" dirty="0">
                <a:latin typeface="Times New Roman" panose="02020603050405020304" pitchFamily="18" charset="0"/>
                <a:cs typeface="Times New Roman" panose="02020603050405020304" pitchFamily="18" charset="0"/>
              </a:rPr>
              <a:t>[7] S. Majhi, et al., “An Improved Method for Diagnosis of Parkinson’s Disease Using Deep Learning Models Enhanced with Metaheuristic Algorithm,” BMC Medical Imaging, vol. 24, pp. 135, 2024.</a:t>
            </a:r>
          </a:p>
        </p:txBody>
      </p:sp>
    </p:spTree>
    <p:extLst>
      <p:ext uri="{BB962C8B-B14F-4D97-AF65-F5344CB8AC3E}">
        <p14:creationId xmlns:p14="http://schemas.microsoft.com/office/powerpoint/2010/main" val="124922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2489-FD9F-4158-A2BB-EFD8CE2E33AB}"/>
              </a:ext>
            </a:extLst>
          </p:cNvPr>
          <p:cNvSpPr>
            <a:spLocks noGrp="1"/>
          </p:cNvSpPr>
          <p:nvPr>
            <p:ph type="title"/>
          </p:nvPr>
        </p:nvSpPr>
        <p:spPr>
          <a:xfrm>
            <a:off x="837887" y="2601"/>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REFERENCES</a:t>
            </a:r>
            <a:endParaRPr lang="en-IN" sz="4000" b="1" dirty="0"/>
          </a:p>
        </p:txBody>
      </p:sp>
      <p:sp>
        <p:nvSpPr>
          <p:cNvPr id="3" name="Content Placeholder 2">
            <a:extLst>
              <a:ext uri="{FF2B5EF4-FFF2-40B4-BE49-F238E27FC236}">
                <a16:creationId xmlns:a16="http://schemas.microsoft.com/office/drawing/2014/main" id="{7833035A-DFE3-4A40-15DB-3AABBD2063AD}"/>
              </a:ext>
            </a:extLst>
          </p:cNvPr>
          <p:cNvSpPr>
            <a:spLocks noGrp="1"/>
          </p:cNvSpPr>
          <p:nvPr>
            <p:ph sz="quarter" idx="13"/>
          </p:nvPr>
        </p:nvSpPr>
        <p:spPr>
          <a:xfrm>
            <a:off x="200855" y="1325563"/>
            <a:ext cx="11789664" cy="5242559"/>
          </a:xfrm>
        </p:spPr>
        <p:txBody>
          <a:bodyPr>
            <a:noAutofit/>
          </a:bodyPr>
          <a:lstStyle/>
          <a:p>
            <a:pPr marL="0" indent="0" algn="just">
              <a:buNone/>
            </a:pPr>
            <a:r>
              <a:rPr lang="en-IN" sz="2000" dirty="0">
                <a:latin typeface="Times New Roman" panose="02020603050405020304" pitchFamily="18" charset="0"/>
                <a:cs typeface="Times New Roman" panose="02020603050405020304" pitchFamily="18" charset="0"/>
              </a:rPr>
              <a:t>[8] V. </a:t>
            </a:r>
            <a:r>
              <a:rPr lang="en-IN" sz="2000" dirty="0" err="1">
                <a:latin typeface="Times New Roman" panose="02020603050405020304" pitchFamily="18" charset="0"/>
                <a:cs typeface="Times New Roman" panose="02020603050405020304" pitchFamily="18" charset="0"/>
              </a:rPr>
              <a:t>Palakayala</a:t>
            </a:r>
            <a:r>
              <a:rPr lang="en-IN" sz="2000" dirty="0">
                <a:latin typeface="Times New Roman" panose="02020603050405020304" pitchFamily="18" charset="0"/>
                <a:cs typeface="Times New Roman" panose="02020603050405020304" pitchFamily="18" charset="0"/>
              </a:rPr>
              <a:t>, et al., “HAMF: A Hierarchical Attention-Based Multi-Modal Fusion Model for Parkinson’s Disease Classification and Severity Prediction,” Applied Sciences, vol. 15, no. 8, pp. 4513, 2025.</a:t>
            </a:r>
          </a:p>
          <a:p>
            <a:pPr marL="0" indent="0" algn="just">
              <a:buNone/>
            </a:pPr>
            <a:r>
              <a:rPr lang="en-IN" sz="2000" dirty="0">
                <a:latin typeface="Times New Roman" panose="02020603050405020304" pitchFamily="18" charset="0"/>
                <a:cs typeface="Times New Roman" panose="02020603050405020304" pitchFamily="18" charset="0"/>
              </a:rPr>
              <a:t>[9] S. Quamar, et al., “Voice-Based Early Diagnosis of Parkinson’s Disease Using Spectrogram Features and AI Models,” Bioengineering, vol. 12, no. 10, pp. 1052, 2025.</a:t>
            </a:r>
          </a:p>
          <a:p>
            <a:pPr marL="0" indent="0" algn="just">
              <a:buNone/>
            </a:pPr>
            <a:r>
              <a:rPr lang="en-IN" sz="2000" dirty="0">
                <a:latin typeface="Times New Roman" panose="02020603050405020304" pitchFamily="18" charset="0"/>
                <a:cs typeface="Times New Roman" panose="02020603050405020304" pitchFamily="18" charset="0"/>
              </a:rPr>
              <a:t>[10] S. Chandra, et al., “A Hybrid Multimodal Deep Learning Framework for Robust Diagnosis of Parkinson’s Disease Using Hand Tremor Analysis,” IEEE Access, vol. 13, pp. 55672–55686, 2025</a:t>
            </a:r>
          </a:p>
          <a:p>
            <a:pPr marL="0" indent="0" algn="just">
              <a:buNone/>
            </a:pPr>
            <a:r>
              <a:rPr lang="en-IN" sz="2000" dirty="0">
                <a:latin typeface="Times New Roman" panose="02020603050405020304" pitchFamily="18" charset="0"/>
                <a:cs typeface="Times New Roman" panose="02020603050405020304" pitchFamily="18" charset="0"/>
              </a:rPr>
              <a:t>[11] J. Cao and L. Long, “RACF: A Multimodal Deep Learning Framework for Parkinson’s Disease Diagnosis Using SNP and MRI Data,” Applied Sciences, vol. 15, no. 6, pp. 4513–4527, 2025.</a:t>
            </a:r>
          </a:p>
          <a:p>
            <a:pPr marL="0" indent="0" algn="just">
              <a:buNone/>
            </a:pPr>
            <a:r>
              <a:rPr lang="en-IN" sz="2000" dirty="0">
                <a:latin typeface="Times New Roman" panose="02020603050405020304" pitchFamily="18" charset="0"/>
                <a:cs typeface="Times New Roman" panose="02020603050405020304" pitchFamily="18" charset="0"/>
              </a:rPr>
              <a:t>[12] M. T. Islam, et al., “Multitask Deep Learning for Predicting Parkinson’s Progression and Depression from Multimodal Time-Series Data,” IEEE Journal of Biomedical and Health Informatics, vol. 29, no. 2, pp. 745–758, 2025.</a:t>
            </a:r>
          </a:p>
          <a:p>
            <a:pPr marL="0" indent="0" algn="just">
              <a:buNone/>
            </a:pPr>
            <a:r>
              <a:rPr lang="en-IN" sz="2000" dirty="0">
                <a:latin typeface="Times New Roman" panose="02020603050405020304" pitchFamily="18" charset="0"/>
                <a:cs typeface="Times New Roman" panose="02020603050405020304" pitchFamily="18" charset="0"/>
              </a:rPr>
              <a:t>[13] K. Bhavani and M. Usha, “Prediction of Parkinson’s Disease and Severity Using Machine Learning and Deep Learning,” International Journal of Intelligent Systems and Applications in Engineering, vol. 16, no. 2025, pp. 120–131, 2025.</a:t>
            </a:r>
          </a:p>
          <a:p>
            <a:pPr marL="0" indent="0" algn="just">
              <a:buNone/>
            </a:pPr>
            <a:r>
              <a:rPr lang="en-IN" sz="2000" dirty="0">
                <a:latin typeface="Times New Roman" panose="02020603050405020304" pitchFamily="18" charset="0"/>
                <a:cs typeface="Times New Roman" panose="02020603050405020304" pitchFamily="18" charset="0"/>
              </a:rPr>
              <a:t>[14] L. Smith, et al., “Deep Learning Approaches for Parkinson’s Disease Detection and Monitoring: A Review,” Diagnostics, vol. 15, no. 1, pp. 4–21, 2025</a:t>
            </a:r>
            <a:endParaRPr lang="en-IN" sz="2000" dirty="0"/>
          </a:p>
        </p:txBody>
      </p:sp>
    </p:spTree>
    <p:extLst>
      <p:ext uri="{BB962C8B-B14F-4D97-AF65-F5344CB8AC3E}">
        <p14:creationId xmlns:p14="http://schemas.microsoft.com/office/powerpoint/2010/main" val="4017828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73B0-D46E-648F-ACFA-53561305745B}"/>
              </a:ext>
            </a:extLst>
          </p:cNvPr>
          <p:cNvSpPr>
            <a:spLocks noGrp="1"/>
          </p:cNvSpPr>
          <p:nvPr>
            <p:ph type="title"/>
          </p:nvPr>
        </p:nvSpPr>
        <p:spPr>
          <a:xfrm>
            <a:off x="838199" y="165370"/>
            <a:ext cx="10515600" cy="1325563"/>
          </a:xfrm>
        </p:spPr>
        <p:txBody>
          <a:bodyPr/>
          <a:lstStyle/>
          <a:p>
            <a:pPr algn="ctr"/>
            <a:r>
              <a:rPr lang="en-IN" b="1" dirty="0">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4E443972-4C18-65A5-9DE5-AF9AC159A780}"/>
              </a:ext>
            </a:extLst>
          </p:cNvPr>
          <p:cNvSpPr>
            <a:spLocks noGrp="1"/>
          </p:cNvSpPr>
          <p:nvPr>
            <p:ph sz="quarter" idx="13"/>
          </p:nvPr>
        </p:nvSpPr>
        <p:spPr>
          <a:xfrm>
            <a:off x="310399" y="1274619"/>
            <a:ext cx="11571199" cy="5583381"/>
          </a:xfrm>
        </p:spPr>
        <p:txBody>
          <a:bodyPr>
            <a:normAutofit/>
          </a:bodyPr>
          <a:lstStyle/>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[15] R. Patel, et al., “Multimodal Artificial Intelligence for Parkinson’s Detection and Progression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npj</a:t>
            </a:r>
            <a:r>
              <a:rPr lang="en-IN" sz="2000" dirty="0">
                <a:latin typeface="Times New Roman" panose="02020603050405020304" pitchFamily="18" charset="0"/>
                <a:cs typeface="Times New Roman" panose="02020603050405020304" pitchFamily="18" charset="0"/>
              </a:rPr>
              <a:t> Parkinson’s Disease, vol. 11, pp. 53, 2025.</a:t>
            </a:r>
          </a:p>
          <a:p>
            <a:pPr marL="0" indent="0" algn="just">
              <a:buNone/>
            </a:pPr>
            <a:r>
              <a:rPr lang="en-IN" sz="2000" dirty="0">
                <a:latin typeface="Times New Roman" panose="02020603050405020304" pitchFamily="18" charset="0"/>
                <a:cs typeface="Times New Roman" panose="02020603050405020304" pitchFamily="18" charset="0"/>
              </a:rPr>
              <a:t>[16] P. Mehta, et al., “AI-Driven Multimodal Imaging Biomarkers for Parkinson’s Disease,” European Journal of Nuclear Medicine and Molecular Imaging, vol. 52, no. 3, pp. 1345–1358, 2025.</a:t>
            </a:r>
          </a:p>
          <a:p>
            <a:pPr marL="0" indent="0" algn="just">
              <a:buNone/>
            </a:pPr>
            <a:r>
              <a:rPr lang="en-IN" sz="2000" dirty="0">
                <a:latin typeface="Times New Roman" panose="02020603050405020304" pitchFamily="18" charset="0"/>
                <a:cs typeface="Times New Roman" panose="02020603050405020304" pitchFamily="18" charset="0"/>
              </a:rPr>
              <a:t>[17] S. SasiRekha, et al., “Parkinson’s Disease Prediction with Spiral Drawings and Wave Frequency Using Deep Conformal Neural Networks,” Biomedical Signal Processing and Control, vol. 101, pp. 106789, 2025.</a:t>
            </a:r>
          </a:p>
          <a:p>
            <a:pPr marL="0" indent="0" algn="just">
              <a:buNone/>
            </a:pPr>
            <a:r>
              <a:rPr lang="en-IN" sz="2000" dirty="0">
                <a:latin typeface="Times New Roman" panose="02020603050405020304" pitchFamily="18" charset="0"/>
                <a:cs typeface="Times New Roman" panose="02020603050405020304" pitchFamily="18" charset="0"/>
              </a:rPr>
              <a:t>[18] V. Shruthi, et al., “Hybrid and Attention-Based Approaches for Classifying Parkinson’s Disease Using Machine Learning and Deep Learning Techniques,” International Journal of Advanced Computer Science and Applications, vol. 16, no. 7, pp. 453–464, 2025.</a:t>
            </a:r>
          </a:p>
          <a:p>
            <a:pPr marL="0" indent="0" algn="just">
              <a:buNone/>
            </a:pPr>
            <a:r>
              <a:rPr lang="en-IN" sz="2000" dirty="0">
                <a:latin typeface="Times New Roman" panose="02020603050405020304" pitchFamily="18" charset="0"/>
                <a:cs typeface="Times New Roman" panose="02020603050405020304" pitchFamily="18" charset="0"/>
              </a:rPr>
              <a:t>[19] D. Kumar, et al., “Machine Learning-Based Parkinson’s Disease Diagnosis Using Multimodal Clinical and Sensor Data,” International Journal of Biomedical Engineering and Technology, vol. 44, no. 2, pp. 201–214, 2025.</a:t>
            </a:r>
          </a:p>
          <a:p>
            <a:pPr marL="0" indent="0" algn="just">
              <a:buNone/>
            </a:pPr>
            <a:r>
              <a:rPr lang="en-IN" sz="2000" dirty="0">
                <a:latin typeface="Times New Roman" panose="02020603050405020304" pitchFamily="18" charset="0"/>
                <a:cs typeface="Times New Roman" panose="02020603050405020304" pitchFamily="18" charset="0"/>
              </a:rPr>
              <a:t>[20] G. Rizou, et al., “</a:t>
            </a:r>
            <a:r>
              <a:rPr lang="en-IN" sz="2000" dirty="0" err="1">
                <a:latin typeface="Times New Roman" panose="02020603050405020304" pitchFamily="18" charset="0"/>
                <a:cs typeface="Times New Roman" panose="02020603050405020304" pitchFamily="18" charset="0"/>
              </a:rPr>
              <a:t>PDualNet</a:t>
            </a:r>
            <a:r>
              <a:rPr lang="en-IN" sz="2000" dirty="0">
                <a:latin typeface="Times New Roman" panose="02020603050405020304" pitchFamily="18" charset="0"/>
                <a:cs typeface="Times New Roman" panose="02020603050405020304" pitchFamily="18" charset="0"/>
              </a:rPr>
              <a:t>: A Deep Learning Framework for Joint Prediction of Parkinson’s Disease Progression Subtype and MDS-UPDRS Scores,” Scientific Reports, vol. 15, pp. 25812, 2025.</a:t>
            </a:r>
          </a:p>
          <a:p>
            <a:endParaRPr lang="en-IN" dirty="0"/>
          </a:p>
        </p:txBody>
      </p:sp>
    </p:spTree>
    <p:extLst>
      <p:ext uri="{BB962C8B-B14F-4D97-AF65-F5344CB8AC3E}">
        <p14:creationId xmlns:p14="http://schemas.microsoft.com/office/powerpoint/2010/main" val="1125167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E00A-EF48-F61F-C5D8-51BBA8B1362E}"/>
              </a:ext>
            </a:extLst>
          </p:cNvPr>
          <p:cNvSpPr>
            <a:spLocks noGrp="1"/>
          </p:cNvSpPr>
          <p:nvPr>
            <p:ph type="title"/>
          </p:nvPr>
        </p:nvSpPr>
        <p:spPr>
          <a:xfrm>
            <a:off x="1110999" y="2384565"/>
            <a:ext cx="10364451" cy="1596177"/>
          </a:xfrm>
        </p:spPr>
        <p:txBody>
          <a:bodyPr>
            <a:normAutofit/>
          </a:bodyPr>
          <a:lstStyle/>
          <a:p>
            <a:pPr algn="ctr"/>
            <a:r>
              <a:rPr lang="en-IN" sz="9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24856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6946</TotalTime>
  <Words>3037</Words>
  <Application>Microsoft Office PowerPoint</Application>
  <PresentationFormat>Widescreen</PresentationFormat>
  <Paragraphs>336</Paragraphs>
  <Slides>28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MULTIMODAL DEEP LEARNING FRAMEWORK FOR EARLY PARKINSON’S PREDICTION</vt:lpstr>
      <vt:lpstr>ABSTRACT</vt:lpstr>
      <vt:lpstr>INTRODUCTION</vt:lpstr>
      <vt:lpstr>PROBLEM STATEMENT</vt:lpstr>
      <vt:lpstr>OBJECTIVES</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Existing vs Proposed System</vt:lpstr>
      <vt:lpstr>ARCHITECTURE DIAGRAM </vt:lpstr>
      <vt:lpstr>METHODOLOGY </vt:lpstr>
      <vt:lpstr>ALGORITHMS USED</vt:lpstr>
      <vt:lpstr>Tools and Technologies</vt:lpstr>
      <vt:lpstr>IMPLEMENTATION</vt:lpstr>
      <vt:lpstr>CURRENT PROGRESS</vt:lpstr>
      <vt:lpstr>FUTURE WORK</vt:lpstr>
      <vt:lpstr>CONCLUSION</vt:lpstr>
      <vt:lpstr>REFERENCES</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Ashin Rinisha</dc:creator>
  <cp:lastModifiedBy>Ashin Rinisha</cp:lastModifiedBy>
  <cp:revision>9</cp:revision>
  <dcterms:created xsi:type="dcterms:W3CDTF">2026-01-27T15:20:59Z</dcterms:created>
  <dcterms:modified xsi:type="dcterms:W3CDTF">2026-02-12T17:17:30Z</dcterms:modified>
</cp:coreProperties>
</file>